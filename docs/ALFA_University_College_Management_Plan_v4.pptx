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Today (100% Agents)</c:v>
                </c:pt>
              </c:strCache>
            </c:strRef>
          </c:tx>
          <c:spPr>
            <a:solidFill>
              <a:srgbClr val="8B0000"/>
            </a:solidFill>
          </c:spPr>
          <c:cat>
            <c:strRef>
              <c:f>Sheet1!$A$2:$A$5</c:f>
              <c:strCache>
                <c:ptCount val="4"/>
                <c:pt idx="0">
                  <c:v>Gross Tuition</c:v>
                </c:pt>
                <c:pt idx="1">
                  <c:v>Agent Comm.</c:v>
                </c:pt>
                <c:pt idx="2">
                  <c:v>Total Spend</c:v>
                </c:pt>
                <c:pt idx="3">
                  <c:v>Net Kept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1000.0</c:v>
                </c:pt>
                <c:pt idx="1">
                  <c:v>150.0</c:v>
                </c:pt>
                <c:pt idx="2">
                  <c:v>160.0</c:v>
                </c:pt>
                <c:pt idx="3">
                  <c:v>840.0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Plan (65% Direct)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Sheet1!$A$2:$A$5</c:f>
              <c:strCache>
                <c:ptCount val="4"/>
                <c:pt idx="0">
                  <c:v>Gross Tuition</c:v>
                </c:pt>
                <c:pt idx="1">
                  <c:v>Agent Comm.</c:v>
                </c:pt>
                <c:pt idx="2">
                  <c:v>Total Spend</c:v>
                </c:pt>
                <c:pt idx="3">
                  <c:v>Net Kept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1000.0</c:v>
                </c:pt>
                <c:pt idx="1">
                  <c:v>52.5</c:v>
                </c:pt>
                <c:pt idx="2">
                  <c:v>94.5</c:v>
                </c:pt>
                <c:pt idx="3">
                  <c:v>905.5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 ($K USD)</c:v>
                </c:pt>
              </c:strCache>
            </c:strRef>
          </c:tx>
          <c:spPr>
            <a:solidFill>
              <a:srgbClr val="E80D13"/>
            </a:solidFill>
          </c:spPr>
          <c:cat>
            <c:strRef>
              <c:f>Sheet1!$A$2:$A$7</c:f>
              <c:strCache>
                <c:ptCount val="6"/>
                <c:pt idx="0">
                  <c:v>P1 Studio</c:v>
                </c:pt>
                <c:pt idx="1">
                  <c:v>P2 Contracts</c:v>
                </c:pt>
                <c:pt idx="2">
                  <c:v>P3 OneHub</c:v>
                </c:pt>
                <c:pt idx="3">
                  <c:v>P4 Ads</c:v>
                </c:pt>
                <c:pt idx="4">
                  <c:v>P4 Bonus</c:v>
                </c:pt>
                <c:pt idx="5">
                  <c:v>P5 Training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4.0</c:v>
                </c:pt>
                <c:pt idx="1">
                  <c:v>1.5</c:v>
                </c:pt>
                <c:pt idx="2">
                  <c:v>9.5</c:v>
                </c:pt>
                <c:pt idx="3">
                  <c:v>12.0</c:v>
                </c:pt>
                <c:pt idx="4">
                  <c:v>13.0</c:v>
                </c:pt>
                <c:pt idx="5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Full-Time Staff (120 Total)</c:v>
                </c:pt>
              </c:strCache>
            </c:strRef>
          </c:tx>
          <c:spPr>
            <a:solidFill>
              <a:srgbClr val="8B0000"/>
            </a:solidFill>
          </c:spPr>
          <c:cat>
            <c:strRef>
              <c:f>Sheet1!$A$2:$A$6</c:f>
              <c:strCache>
                <c:ptCount val="5"/>
                <c:pt idx="0">
                  <c:v>Top Mgmt</c:v>
                </c:pt>
                <c:pt idx="1">
                  <c:v>Academic</c:v>
                </c:pt>
                <c:pt idx="2">
                  <c:v>Marketing</c:v>
                </c:pt>
                <c:pt idx="3">
                  <c:v>IT OneHub</c:v>
                </c:pt>
                <c:pt idx="4">
                  <c:v>Ops/Fin/HR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65</c:v>
                </c:pt>
                <c:pt idx="2">
                  <c:v>20</c:v>
                </c:pt>
                <c:pt idx="3">
                  <c:v>12</c:v>
                </c:pt>
                <c:pt idx="4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Direct Online (%)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Sheet1!$A$2:$A$6</c:f>
              <c:strCache>
                <c:ptCount val="5"/>
                <c:pt idx="0">
                  <c:v>Today</c:v>
                </c:pt>
                <c:pt idx="1">
                  <c:v>Q1 (M3)</c:v>
                </c:pt>
                <c:pt idx="2">
                  <c:v>Q2 (M6)</c:v>
                </c:pt>
                <c:pt idx="3">
                  <c:v>Q3 (M9)</c:v>
                </c:pt>
                <c:pt idx="4">
                  <c:v>Q4 (M12)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55</c:v>
                </c:pt>
                <c:pt idx="4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 Agents (%)</c:v>
                </c:pt>
              </c:strCache>
            </c:strRef>
          </c:tx>
          <c:spPr>
            <a:solidFill>
              <a:srgbClr val="8B0000"/>
            </a:solidFill>
          </c:spPr>
          <c:cat>
            <c:strRef>
              <c:f>Sheet1!$A$2:$A$6</c:f>
              <c:strCache>
                <c:ptCount val="5"/>
                <c:pt idx="0">
                  <c:v>Today</c:v>
                </c:pt>
                <c:pt idx="1">
                  <c:v>Q1 (M3)</c:v>
                </c:pt>
                <c:pt idx="2">
                  <c:v>Q2 (M6)</c:v>
                </c:pt>
                <c:pt idx="3">
                  <c:v>Q3 (M9)</c:v>
                </c:pt>
                <c:pt idx="4">
                  <c:v>Q4 (M12)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45</c:v>
                </c:pt>
                <c:pt idx="4">
                  <c:v>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Today ($K)</c:v>
                </c:pt>
              </c:strCache>
            </c:strRef>
          </c:tx>
          <c:spPr>
            <a:solidFill>
              <a:srgbClr val="8B0000"/>
            </a:solidFill>
          </c:spPr>
          <c:cat>
            <c:strRef>
              <c:f>Sheet1!$A$2:$A$5</c:f>
              <c:strCache>
                <c:ptCount val="4"/>
                <c:pt idx="0">
                  <c:v>Agent Comm.</c:v>
                </c:pt>
                <c:pt idx="1">
                  <c:v>Plan / Mktg</c:v>
                </c:pt>
                <c:pt idx="2">
                  <c:v>Total Spend</c:v>
                </c:pt>
                <c:pt idx="3">
                  <c:v>Net Tuition Kept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150.0</c:v>
                </c:pt>
                <c:pt idx="1">
                  <c:v>10.0</c:v>
                </c:pt>
                <c:pt idx="2">
                  <c:v>160.0</c:v>
                </c:pt>
                <c:pt idx="3">
                  <c:v>840.0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12 Months ($K)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Sheet1!$A$2:$A$5</c:f>
              <c:strCache>
                <c:ptCount val="4"/>
                <c:pt idx="0">
                  <c:v>Agent Comm.</c:v>
                </c:pt>
                <c:pt idx="1">
                  <c:v>Plan / Mktg</c:v>
                </c:pt>
                <c:pt idx="2">
                  <c:v>Total Spend</c:v>
                </c:pt>
                <c:pt idx="3">
                  <c:v>Net Tuition Kept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52.5</c:v>
                </c:pt>
                <c:pt idx="1">
                  <c:v>42.0</c:v>
                </c:pt>
                <c:pt idx="2">
                  <c:v>94.5</c:v>
                </c:pt>
                <c:pt idx="3">
                  <c:v>905.5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0000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BE9E7"/>
                </a:solidFill>
                <a:latin typeface="Liberation Sans"/>
              </a:rPr>
              <a:t>FIB 2074 | FINAL GROUP PROJECT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Liberation Sans"/>
              </a:rPr>
              <a:t>ALFA University College Management Plan</a:t>
            </a:r>
          </a:p>
          <a:p>
            <a:pPr>
              <a:spcAft>
                <a:spcPts val="2400"/>
              </a:spcAft>
            </a:pPr>
            <a:r>
              <a:rPr sz="2000">
                <a:solidFill>
                  <a:srgbClr val="FBE9E7"/>
                </a:solidFill>
                <a:latin typeface="Liberation Sans"/>
              </a:rPr>
              <a:t>Shifting to 65% Direct Digital Enrolment and ALFA OneHub Paperless Operations</a:t>
            </a:r>
          </a:p>
          <a:p>
            <a:r>
              <a:rPr sz="1500" b="1">
                <a:solidFill>
                  <a:srgbClr val="FFFFFF"/>
                </a:solidFill>
                <a:latin typeface="Liberation Sans"/>
              </a:rPr>
              <a:t>Members 1–7 | Lecturer: Dr. Paul | Slide 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1 | SECTION 1: BUSINESS CONCEPT &amp; SITUATION</a:t>
            </a:r>
          </a:p>
          <a:p>
            <a:pPr algn="l"/>
            <a:r>
              <a:rPr sz="2800" b="1">
                <a:solidFill>
                  <a:srgbClr val="8B0000"/>
                </a:solidFill>
                <a:latin typeface="Liberation Sans"/>
              </a:rPr>
              <a:t>100% Agent Reliance and Paper Slow ALFA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Verified ALFA Profile &amp; Two Challenges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Verified Founding: </a:t>
            </a:r>
            <a:r>
              <a:rPr sz="1550">
                <a:solidFill>
                  <a:srgbClr val="475569"/>
                </a:solidFill>
                <a:latin typeface="Liberation Sans"/>
              </a:rPr>
              <a:t>Started 1998 as Alif Creative Academy; Nusantara Group (2017); UC status (2021).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Campus &amp; Scale: </a:t>
            </a:r>
            <a:r>
              <a:rPr sz="1550">
                <a:solidFill>
                  <a:srgbClr val="475569"/>
                </a:solidFill>
                <a:latin typeface="Liberation Sans"/>
              </a:rPr>
              <a:t>USJ 1, Subang Jaya; motto 'A Leader For All'; 68 MQA courses; 120 staff (assumption).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Problem 1 (100% Agents): </a:t>
            </a:r>
            <a:r>
              <a:rPr sz="1550">
                <a:solidFill>
                  <a:srgbClr val="475569"/>
                </a:solidFill>
                <a:latin typeface="Liberation Sans"/>
              </a:rPr>
              <a:t>All 400 new students come via 12 master &amp; 96 sub-agents taking 15% ($375/stu).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Problem 2 (Paper &amp; MyClass): </a:t>
            </a:r>
            <a:r>
              <a:rPr sz="1550">
                <a:solidFill>
                  <a:srgbClr val="475569"/>
                </a:solidFill>
                <a:latin typeface="Liberation Sans"/>
              </a:rPr>
              <a:t>MyClass only shows PDF exam grades; 5–7 days chasing 3–4 paper ink stamps.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ALFA Official Website (alfa.edu.my) &amp; Times Higher Education (2024)   |   Slide 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1 | SECTION 1: UNIFIED COMMISSION &amp; BUDGET MODEL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65% Direct Intake Saves $97,500 Gross ($55,500 Net)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75488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Commission Math (400 Students × $2,500)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Sub-Agent Rate (10%): </a:t>
            </a:r>
            <a:r>
              <a:rPr sz="1550">
                <a:solidFill>
                  <a:srgbClr val="475569"/>
                </a:solidFill>
                <a:latin typeface="Liberation Sans"/>
              </a:rPr>
              <a:t>$250/student × 400 students = $100,000/yr today.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Master Agent (5% Assump.): </a:t>
            </a:r>
            <a:r>
              <a:rPr sz="1550">
                <a:solidFill>
                  <a:srgbClr val="475569"/>
                </a:solidFill>
                <a:latin typeface="Liberation Sans"/>
              </a:rPr>
              <a:t>$125/student × 400 students = $50,000/yr today.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Total Commission Today: </a:t>
            </a:r>
            <a:r>
              <a:rPr sz="1550">
                <a:solidFill>
                  <a:srgbClr val="475569"/>
                </a:solidFill>
                <a:latin typeface="Liberation Sans"/>
              </a:rPr>
              <a:t>$375/stu (15%) = $150,000/yr (+$10K mktg = $160K).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65% Direct Plan Target: </a:t>
            </a:r>
            <a:r>
              <a:rPr sz="1550">
                <a:solidFill>
                  <a:srgbClr val="475569"/>
                </a:solidFill>
                <a:latin typeface="Liberation Sans"/>
              </a:rPr>
              <a:t>260 direct stu save $97.5K gross ($55.5K net of $42K).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720" y="205740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Appendix A Unified Financial Model ($1,000,000 Gross First-Year Tuition)   |   Slide 3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1 | SECTION 2: APPLICATION OF MANAGEMENT THEORIES (LECTURE 2)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Classical, Behavioural &amp; Contingency Theories Fix Both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23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3657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1. Classical Theory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Core Focus: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Work structure, SOP standardisation &amp; efficiency.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24-Hr Digital SOP: </a:t>
            </a:r>
            <a:r>
              <a:rPr sz="1550">
                <a:solidFill>
                  <a:srgbClr val="475569"/>
                </a:solidFill>
                <a:latin typeface="Liberation Sans"/>
              </a:rPr>
              <a:t>Upgrade MyClass to OneHub (&lt;24h vs 5–7d paper).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Marketing Split: </a:t>
            </a:r>
            <a:r>
              <a:rPr sz="1550">
                <a:solidFill>
                  <a:srgbClr val="475569"/>
                </a:solidFill>
                <a:latin typeface="Liberation Sans"/>
              </a:rPr>
              <a:t>Divide 20 staff: 6 Video, 6 CRM, 4 Agent Audit.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023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3657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2. Behavioural Theory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Core Focus: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People, feelings, morale &amp; fair motivation.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Restaurant B Style: </a:t>
            </a:r>
            <a:r>
              <a:rPr sz="1550">
                <a:solidFill>
                  <a:srgbClr val="475569"/>
                </a:solidFill>
                <a:latin typeface="Liberation Sans"/>
              </a:rPr>
              <a:t>Co-design OneHub screens with clerks &amp; faculty.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$50 Direct Bonus: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Pay $50/direct student ($13K/yr for 260 stu).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023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3657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3. Contingency Theory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Core Focus: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Adapt management approach to the situation.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Tailored Coaching: </a:t>
            </a:r>
            <a:r>
              <a:rPr sz="1550">
                <a:solidFill>
                  <a:srgbClr val="475569"/>
                </a:solidFill>
                <a:latin typeface="Liberation Sans"/>
              </a:rPr>
              <a:t>Autonomy for creators; buddy help for clerks.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Hybrid Channels: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65% direct online (260); 35% agents (140 stu).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FIB 2074 Lecture 2 (Classical, Behavioural &amp; Contingency Management Theories)   |   Slide 4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2 | SECTION 3: PLANNING THE BUSINESS (LECTURE 3)</a:t>
            </a:r>
          </a:p>
          <a:p>
            <a:pPr algn="l"/>
            <a:r>
              <a:rPr sz="2800" b="1">
                <a:solidFill>
                  <a:srgbClr val="8B0000"/>
                </a:solidFill>
                <a:latin typeface="Liberation Sans"/>
              </a:rPr>
              <a:t>SMART Objectives Target 65% Direct Online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12-Month Goal &amp; SMART Targets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Overall Goal: </a:t>
            </a:r>
            <a:r>
              <a:rPr sz="1550">
                <a:solidFill>
                  <a:srgbClr val="475569"/>
                </a:solidFill>
                <a:latin typeface="Liberation Sans"/>
              </a:rPr>
              <a:t>Shift ALFA to 65% direct digital intake &amp; paperless OneHub.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SMART 1 (Financial): </a:t>
            </a:r>
            <a:r>
              <a:rPr sz="1550">
                <a:solidFill>
                  <a:srgbClr val="475569"/>
                </a:solidFill>
                <a:latin typeface="Liberation Sans"/>
              </a:rPr>
              <a:t>0% → 65% direct (260 stu); save $97.5K gross / $55.5K net.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SMART 2 (Social Media): </a:t>
            </a:r>
            <a:r>
              <a:rPr sz="1550">
                <a:solidFill>
                  <a:srgbClr val="475569"/>
                </a:solidFill>
                <a:latin typeface="Liberation Sans"/>
              </a:rPr>
              <a:t>5 Reels/wk; grow IG 2.1K → 20K; reply in &lt;= 2 hours.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SMART 3 (ALFA OneHub): </a:t>
            </a:r>
            <a:r>
              <a:rPr sz="1550">
                <a:solidFill>
                  <a:srgbClr val="475569"/>
                </a:solidFill>
                <a:latin typeface="Liberation Sans"/>
              </a:rPr>
              <a:t>Launch OneHub by M6; student admin wait &lt; 24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FIB 2074 Lecture 3 (Robbins &amp; Coulter 3-Step Framework &amp; SMART Criteria)   |   Slide 5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2 | SECTION 3: STRATEGY, PLANS &amp; CONTINGENCY (LECTURE 3)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Multi-Level Strategy, Backup Plan &amp; $42,000 Budget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Types of Plans &amp; Backup Rule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Timestamp Strategy: </a:t>
            </a:r>
            <a:r>
              <a:rPr sz="1550">
                <a:solidFill>
                  <a:srgbClr val="475569"/>
                </a:solidFill>
                <a:latin typeface="Liberation Sans"/>
              </a:rPr>
              <a:t>First Digital Timestamp blocks false agent claims.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Strategic &amp; Tactical: </a:t>
            </a:r>
            <a:r>
              <a:rPr sz="1550">
                <a:solidFill>
                  <a:srgbClr val="475569"/>
                </a:solidFill>
                <a:latin typeface="Liberation Sans"/>
              </a:rPr>
              <a:t>12-mo $42K shift; M3–M6 OneHub &amp; studio campaigns.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Operational Plan: </a:t>
            </a:r>
            <a:r>
              <a:rPr sz="1550">
                <a:solidFill>
                  <a:srgbClr val="475569"/>
                </a:solidFill>
                <a:latin typeface="Liberation Sans"/>
              </a:rPr>
              <a:t>5 Reels/wk, &lt;=2h DM replies, &lt;=24h ERP approvals.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Contingency Plan: </a:t>
            </a:r>
            <a:r>
              <a:rPr sz="1550">
                <a:solidFill>
                  <a:srgbClr val="475569"/>
                </a:solidFill>
                <a:latin typeface="Liberation Sans"/>
              </a:rPr>
              <a:t>If M6 direct &lt; 30%, shift $3K to $100 Direct Rebate.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057400"/>
          <a:ext cx="55778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Table 3 Action Plan ($42,000 Budget: $161.54/Direct Student; $236.25 Blended)   |   Slide 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2 | SECTION 3: SIX-STEP ACTION PLAN &amp; GANTT TIMELINE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Visual 12-Month Action Plan Timeline ($42,000 Budget)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4937760" cy="530352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76272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8B0000"/>
                </a:solidFill>
                <a:latin typeface="Liberation Sans"/>
              </a:rPr>
              <a:t>Phase 1: Social Studio &amp; 8 Ambassadors ($4.0K)  </a:t>
            </a:r>
            <a:r>
              <a:rPr sz="1400">
                <a:solidFill>
                  <a:srgbClr val="475569"/>
                </a:solidFill>
                <a:latin typeface="Liberation Sans"/>
              </a:rPr>
              <a:t>[Marketing Dir.]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2157984"/>
            <a:ext cx="914400" cy="420624"/>
          </a:xfrm>
          <a:prstGeom prst="roundRect">
            <a:avLst>
              <a:gd name="adj" fmla="val 6000"/>
            </a:avLst>
          </a:prstGeom>
          <a:solidFill>
            <a:srgbClr val="E8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2194560"/>
            <a:ext cx="731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iberation Sans"/>
              </a:rPr>
              <a:t>M1–M2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61487"/>
            <a:ext cx="4937760" cy="530352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34639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8B0000"/>
                </a:solidFill>
                <a:latin typeface="Liberation Sans"/>
              </a:rPr>
              <a:t>Phase 2: Agent Audit &amp; Timestamp Rule ($1.5K)  </a:t>
            </a:r>
            <a:r>
              <a:rPr sz="1400">
                <a:solidFill>
                  <a:srgbClr val="475569"/>
                </a:solidFill>
                <a:latin typeface="Liberation Sans"/>
              </a:rPr>
              <a:t>[VC &amp; Finance]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816351"/>
            <a:ext cx="1371600" cy="420624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52927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iberation Sans"/>
              </a:rPr>
              <a:t>M2–M4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19856"/>
            <a:ext cx="4937760" cy="530352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93008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8B0000"/>
                </a:solidFill>
                <a:latin typeface="Liberation Sans"/>
              </a:rPr>
              <a:t>Phase 3: Upgrade MyClass to OneHub ($9.5K)  </a:t>
            </a:r>
            <a:r>
              <a:rPr sz="1400">
                <a:solidFill>
                  <a:srgbClr val="475569"/>
                </a:solidFill>
                <a:latin typeface="Liberation Sans"/>
              </a:rPr>
              <a:t>[Chief IT Mgr (12)]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474720"/>
            <a:ext cx="1828800" cy="420624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511296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iberation Sans"/>
              </a:rPr>
              <a:t>M3–M6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78224"/>
            <a:ext cx="4937760" cy="530352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51376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8B0000"/>
                </a:solidFill>
                <a:latin typeface="Liberation Sans"/>
              </a:rPr>
              <a:t>Phase 4: Direct Ads ($12K) &amp; Bonus ($13K)  </a:t>
            </a:r>
            <a:r>
              <a:rPr sz="1400">
                <a:solidFill>
                  <a:srgbClr val="475569"/>
                </a:solidFill>
                <a:latin typeface="Liberation Sans"/>
              </a:rPr>
              <a:t>[Social &amp; CRM Leads]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133087"/>
            <a:ext cx="4114800" cy="420624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169663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iberation Sans"/>
              </a:rPr>
              <a:t>M4–M12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36592"/>
            <a:ext cx="4937760" cy="530352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09744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8B0000"/>
                </a:solidFill>
                <a:latin typeface="Liberation Sans"/>
              </a:rPr>
              <a:t>Phase 5: 120-Staff Training &amp; Paperless ($2.0K)  </a:t>
            </a:r>
            <a:r>
              <a:rPr sz="1400">
                <a:solidFill>
                  <a:srgbClr val="475569"/>
                </a:solidFill>
                <a:latin typeface="Liberation Sans"/>
              </a:rPr>
              <a:t>[Ops &amp; HR Mgr]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4791455"/>
            <a:ext cx="1828800" cy="420624"/>
          </a:xfrm>
          <a:prstGeom prst="roundRect">
            <a:avLst>
              <a:gd name="adj" fmla="val 6000"/>
            </a:avLst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828031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iberation Sans"/>
              </a:rPr>
              <a:t>M5–M8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94959"/>
            <a:ext cx="4937760" cy="530352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468112"/>
            <a:ext cx="46634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8B0000"/>
                </a:solidFill>
                <a:latin typeface="Liberation Sans"/>
              </a:rPr>
              <a:t>Phase 6: Monthly Control &amp; Variance Audits ($0)  </a:t>
            </a:r>
            <a:r>
              <a:rPr sz="1400">
                <a:solidFill>
                  <a:srgbClr val="475569"/>
                </a:solidFill>
                <a:latin typeface="Liberation Sans"/>
              </a:rPr>
              <a:t>[VC &amp; 4 Div. Heads]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5449823"/>
            <a:ext cx="3200400" cy="42062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5486399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iberation Sans"/>
              </a:rPr>
              <a:t>M6–M12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FIB 2074 Lecture 3 (Six Steps to Plan Effectively &amp; 12-Month Gantt Schedule)   |   Slide 7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3 | SECTION 4: ORGANISING THE BUSINESS (LECTURE 4)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7-Step Organising Aligns 120 Staff &amp; Clear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93776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Principles Applied Across 120 Staff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Exact 120 Headcount: </a:t>
            </a:r>
            <a:r>
              <a:rPr sz="1550">
                <a:solidFill>
                  <a:srgbClr val="475569"/>
                </a:solidFill>
                <a:latin typeface="Liberation Sans"/>
              </a:rPr>
              <a:t>5 Top + 65 Academic + 20 Marketing + 12 IT + 18 Ops.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Match Authority: </a:t>
            </a:r>
            <a:r>
              <a:rPr sz="1550">
                <a:solidFill>
                  <a:srgbClr val="475569"/>
                </a:solidFill>
                <a:latin typeface="Liberation Sans"/>
              </a:rPr>
              <a:t>Marketing Dir. controls $12K ads &amp; blocks false claims.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Smart Delegation: </a:t>
            </a:r>
            <a:r>
              <a:rPr sz="1550">
                <a:solidFill>
                  <a:srgbClr val="475569"/>
                </a:solidFill>
                <a:latin typeface="Liberation Sans"/>
              </a:rPr>
              <a:t>Leads approve reels/chats; Directors keep accountability.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Unity of Command: </a:t>
            </a:r>
            <a:r>
              <a:rPr sz="1550">
                <a:solidFill>
                  <a:srgbClr val="475569"/>
                </a:solidFill>
                <a:latin typeface="Liberation Sans"/>
              </a:rPr>
              <a:t>6 Video Creators report solely to Social Media Lead.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057400"/>
          <a:ext cx="55778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FIB 2074 Lecture 4 (7-Step Organising Process, Authority &amp; Delegation)   |   Slide 8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3 | SECTION 4: VISUAL ORGANISATION CHART &amp; SPAN OF CONTROL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Visual Organisation Chart (120 Staff) &amp; Span of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2029968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0" y="2084831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Liberation Sans"/>
              </a:rPr>
              <a:t>TOP-LEVEL MANAGEMENT (5 Staff)</a:t>
            </a:r>
          </a:p>
          <a:p>
            <a:pPr algn="ctr"/>
            <a:r>
              <a:rPr sz="1400">
                <a:solidFill>
                  <a:srgbClr val="FBE9E7"/>
                </a:solidFill>
                <a:latin typeface="Liberation Sans"/>
              </a:rPr>
              <a:t>Chairman (Dr. Shaharuddin), Vice-Chancellor (Prof. Dr. Nurliza), Deputy VC &amp; 2 Exec Assistants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2523744" cy="777240"/>
          </a:xfrm>
          <a:prstGeom prst="roundRect">
            <a:avLst>
              <a:gd name="adj" fmla="val 6000"/>
            </a:avLst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127248"/>
            <a:ext cx="230428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Liberation Sans"/>
              </a:rPr>
              <a:t>1. Academic Affairs (65)</a:t>
            </a:r>
          </a:p>
          <a:p>
            <a:pPr algn="ctr"/>
            <a:r>
              <a:rPr sz="1400">
                <a:solidFill>
                  <a:srgbClr val="FBE9E7"/>
                </a:solidFill>
                <a:latin typeface="Liberation Sans"/>
              </a:rPr>
              <a:t>1 Academic Director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2523744" cy="141732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069080"/>
            <a:ext cx="2267711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Liberation Sans"/>
              </a:rPr>
              <a:t>8 Coordinators → 56 Lecturers</a:t>
            </a:r>
          </a:p>
          <a:p>
            <a:pPr algn="ctr"/>
            <a:r>
              <a:rPr sz="1400" b="1">
                <a:solidFill>
                  <a:srgbClr val="E80D13"/>
                </a:solidFill>
                <a:latin typeface="Liberation Sans"/>
              </a:rPr>
              <a:t>Wide Span: 7 per Coordinator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3063240"/>
            <a:ext cx="2523744" cy="777240"/>
          </a:xfrm>
          <a:prstGeom prst="roundRect">
            <a:avLst>
              <a:gd name="adj" fmla="val 6000"/>
            </a:avLst>
          </a:prstGeom>
          <a:solidFill>
            <a:srgbClr val="E8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127248"/>
            <a:ext cx="230428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Liberation Sans"/>
              </a:rPr>
              <a:t>2. Digital Marketing (20)</a:t>
            </a:r>
          </a:p>
          <a:p>
            <a:pPr algn="ctr"/>
            <a:r>
              <a:rPr sz="1400">
                <a:solidFill>
                  <a:srgbClr val="FBE9E7"/>
                </a:solidFill>
                <a:latin typeface="Liberation Sans"/>
              </a:rPr>
              <a:t>1 Marketing Director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977639"/>
            <a:ext cx="2523744" cy="141732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4069080"/>
            <a:ext cx="2267711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Liberation Sans"/>
              </a:rPr>
              <a:t>3 Leads → 6 Video, 6 CRM, 4 Audit</a:t>
            </a:r>
          </a:p>
          <a:p>
            <a:pPr algn="ctr"/>
            <a:r>
              <a:rPr sz="1400" b="1">
                <a:solidFill>
                  <a:srgbClr val="E80D13"/>
                </a:solidFill>
                <a:latin typeface="Liberation Sans"/>
              </a:rPr>
              <a:t>Narrow Span: 5–6 per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063240"/>
            <a:ext cx="2523744" cy="77724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3127248"/>
            <a:ext cx="230428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Liberation Sans"/>
              </a:rPr>
              <a:t>3. IT &amp; OneHub ERP (12)</a:t>
            </a:r>
          </a:p>
          <a:p>
            <a:pPr algn="ctr"/>
            <a:r>
              <a:rPr sz="1400">
                <a:solidFill>
                  <a:srgbClr val="FBE9E7"/>
                </a:solidFill>
                <a:latin typeface="Liberation Sans"/>
              </a:rPr>
              <a:t>1 Chief IT 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977639"/>
            <a:ext cx="2523744" cy="141732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4069080"/>
            <a:ext cx="2267711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Liberation Sans"/>
              </a:rPr>
              <a:t>2 Leads → 5 Dev, 4 Helpdesk</a:t>
            </a:r>
          </a:p>
          <a:p>
            <a:pPr algn="ctr"/>
            <a:r>
              <a:rPr sz="1400" b="1">
                <a:solidFill>
                  <a:srgbClr val="E80D13"/>
                </a:solidFill>
                <a:latin typeface="Liberation Sans"/>
              </a:rPr>
              <a:t>Narrow Span: 4–5 per Lead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3063240"/>
            <a:ext cx="2523744" cy="777240"/>
          </a:xfrm>
          <a:prstGeom prst="roundRect">
            <a:avLst>
              <a:gd name="adj" fmla="val 6000"/>
            </a:avLst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5984" y="3127248"/>
            <a:ext cx="230428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Liberation Sans"/>
              </a:rPr>
              <a:t>4. Registry, Fin &amp; HR (18)</a:t>
            </a:r>
          </a:p>
          <a:p>
            <a:pPr algn="ctr"/>
            <a:r>
              <a:rPr sz="1400">
                <a:solidFill>
                  <a:srgbClr val="FBE9E7"/>
                </a:solidFill>
                <a:latin typeface="Liberation Sans"/>
              </a:rPr>
              <a:t>1 Ops &amp; HR 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3977639"/>
            <a:ext cx="2523744" cy="141732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4069080"/>
            <a:ext cx="2267711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Liberation Sans"/>
              </a:rPr>
              <a:t>3 Supv. → 5 Reg, 5 Fin, 4 HR</a:t>
            </a:r>
          </a:p>
          <a:p>
            <a:pPr algn="ctr"/>
            <a:r>
              <a:rPr sz="1400" b="1">
                <a:solidFill>
                  <a:srgbClr val="E80D13"/>
                </a:solidFill>
                <a:latin typeface="Liberation Sans"/>
              </a:rPr>
              <a:t>Narrow Span: 4–5 per Supv.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59552"/>
            <a:ext cx="10698480" cy="594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32704"/>
            <a:ext cx="103327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50" b="1">
                <a:solidFill>
                  <a:srgbClr val="8B0000"/>
                </a:solidFill>
                <a:latin typeface="Liberation Sans"/>
              </a:rPr>
              <a:t>Centralised at Top: </a:t>
            </a:r>
            <a:r>
              <a:rPr sz="1450">
                <a:solidFill>
                  <a:srgbClr val="1E293B"/>
                </a:solidFill>
                <a:latin typeface="Liberation Sans"/>
              </a:rPr>
              <a:t>$2,500 Tuition, $42K Budget, MQA &amp; 15% Agent Rules   |   </a:t>
            </a:r>
            <a:r>
              <a:rPr sz="1450" b="1">
                <a:solidFill>
                  <a:srgbClr val="E80D13"/>
                </a:solidFill>
                <a:latin typeface="Liberation Sans"/>
              </a:rPr>
              <a:t>Decentralised to Frontline: </a:t>
            </a:r>
            <a:r>
              <a:rPr sz="1450">
                <a:solidFill>
                  <a:srgbClr val="1E293B"/>
                </a:solidFill>
                <a:latin typeface="Liberation Sans"/>
              </a:rPr>
              <a:t>&lt;=2h DM Replies &amp; &lt;=24h ERP Approvals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FIB 2074 Lecture 4 (Hierarchy Levels, Span of Control &amp; Centralisation Balance)   |   Slide 9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4 | SECTION 5: LEADING THE BUSINESS (LECTURE 5)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6-Step Leading &amp; 5 Power Sources Turn Plans Into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23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3657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6-Step Leading Process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1–2. Set &amp; Share: </a:t>
            </a:r>
            <a:r>
              <a:rPr sz="1550">
                <a:solidFill>
                  <a:srgbClr val="475569"/>
                </a:solidFill>
                <a:latin typeface="Liberation Sans"/>
              </a:rPr>
              <a:t>Town hall 'Why' + clear 2h CRM / 24h ERP rules.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3–4. Guide &amp; Motivate: </a:t>
            </a:r>
            <a:r>
              <a:rPr sz="1550">
                <a:solidFill>
                  <a:srgbClr val="475569"/>
                </a:solidFill>
                <a:latin typeface="Liberation Sans"/>
              </a:rPr>
              <a:t>Live iMac demos + $50 direct student bonus.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5–6. Support &amp; Check: </a:t>
            </a:r>
            <a:r>
              <a:rPr sz="1550">
                <a:solidFill>
                  <a:srgbClr val="475569"/>
                </a:solidFill>
                <a:latin typeface="Liberation Sans"/>
              </a:rPr>
              <a:t>Daily IT floor-walks + 15-min Friday check-ins.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023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3657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Formal Position Power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Legitimate Power: </a:t>
            </a:r>
            <a:r>
              <a:rPr sz="1550">
                <a:solidFill>
                  <a:srgbClr val="475569"/>
                </a:solidFill>
                <a:latin typeface="Liberation Sans"/>
              </a:rPr>
              <a:t>Mandate 100% paperless OneHub usage by M8.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Reward Power: </a:t>
            </a:r>
            <a:r>
              <a:rPr sz="1550">
                <a:solidFill>
                  <a:srgbClr val="475569"/>
                </a:solidFill>
                <a:latin typeface="Liberation Sans"/>
              </a:rPr>
              <a:t>$50/student bonus ($13K) &amp; $400 team awards.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Coercive Power: </a:t>
            </a:r>
            <a:r>
              <a:rPr sz="1550">
                <a:solidFill>
                  <a:srgbClr val="475569"/>
                </a:solidFill>
                <a:latin typeface="Liberation Sans"/>
              </a:rPr>
              <a:t>Last resort if agents fake digital timestamps.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023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3657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Personal Power (Trust)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Power vs. Influence: </a:t>
            </a:r>
            <a:r>
              <a:rPr sz="1550">
                <a:solidFill>
                  <a:srgbClr val="475569"/>
                </a:solidFill>
                <a:latin typeface="Liberation Sans"/>
              </a:rPr>
              <a:t>Power = capacity; Influence = behaviour change.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Expert Power: </a:t>
            </a:r>
            <a:r>
              <a:rPr sz="1550">
                <a:solidFill>
                  <a:srgbClr val="475569"/>
                </a:solidFill>
                <a:latin typeface="Liberation Sans"/>
              </a:rPr>
              <a:t>IT &amp; Marketing leads teach ERP &amp; reel skills.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Referent Power: </a:t>
            </a:r>
            <a:r>
              <a:rPr sz="1550">
                <a:solidFill>
                  <a:srgbClr val="475569"/>
                </a:solidFill>
                <a:latin typeface="Liberation Sans"/>
              </a:rPr>
              <a:t>Listen with empathy; model paperless habits.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FIB 2074 Lecture 5 (Management vs. Leading, Power vs. Influence &amp; French &amp; Raven, 1959)   |   Slide 10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4 | SECTION 5: PRACTICAL WORKPLACE SCENARIO</a:t>
            </a:r>
          </a:p>
          <a:p>
            <a:pPr algn="l"/>
            <a:r>
              <a:rPr sz="2800" b="1">
                <a:solidFill>
                  <a:srgbClr val="8B0000"/>
                </a:solidFill>
                <a:latin typeface="Liberation Sans"/>
              </a:rPr>
              <a:t>Coaching Senior Clerks Clears 40-Student ERP Backlog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Month 6 Registry Resistance &amp; Response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The Problem: </a:t>
            </a:r>
            <a:r>
              <a:rPr sz="1550">
                <a:solidFill>
                  <a:srgbClr val="475569"/>
                </a:solidFill>
                <a:latin typeface="Liberation Sans"/>
              </a:rPr>
              <a:t>Two 12-yr clerks fear ERP errors; 40 students wait 5 days.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1. Referent Power: </a:t>
            </a:r>
            <a:r>
              <a:rPr sz="1550">
                <a:solidFill>
                  <a:srgbClr val="475569"/>
                </a:solidFill>
                <a:latin typeface="Liberation Sans"/>
              </a:rPr>
              <a:t>Private coffee chat; reassure cloud backup protects files.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2. Expert Power: </a:t>
            </a:r>
            <a:r>
              <a:rPr sz="1550">
                <a:solidFill>
                  <a:srgbClr val="475569"/>
                </a:solidFill>
                <a:latin typeface="Liberation Sans"/>
              </a:rPr>
              <a:t>IT enables 10-file 'Sandbox Mode' &amp; preview check.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3. Reward &amp; Result: </a:t>
            </a:r>
            <a:r>
              <a:rPr sz="1550">
                <a:solidFill>
                  <a:srgbClr val="475569"/>
                </a:solidFill>
                <a:latin typeface="Liberation Sans"/>
              </a:rPr>
              <a:t>Tech buddy + town hall praise clears backlog in &lt;24h.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FIB 2074 Section 5.3 Workplace Leadership &amp; Power Application   |   Slide 11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5 | SECTION 6: CONTROLLING BUSINESS PERFORMANCE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Five-Area Control Matrix Tracks Standards &amp; Fixes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Financial, Operations &amp; Quality Control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4-Step Control Loop: </a:t>
            </a:r>
            <a:r>
              <a:rPr sz="1550">
                <a:solidFill>
                  <a:srgbClr val="475569"/>
                </a:solidFill>
                <a:latin typeface="Liberation Sans"/>
              </a:rPr>
              <a:t>Set Standard → Measure → Compare → Fix (Textbook).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1. Financial Control: </a:t>
            </a:r>
            <a:r>
              <a:rPr sz="1550">
                <a:solidFill>
                  <a:srgbClr val="475569"/>
                </a:solidFill>
                <a:latin typeface="Liberation Sans"/>
              </a:rPr>
              <a:t>Comm. &lt;=$52.5K/yr; direct cost &lt;=$161.54 ($236.25 avg).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2. Operations Control: </a:t>
            </a:r>
            <a:r>
              <a:rPr sz="1550">
                <a:solidFill>
                  <a:srgbClr val="475569"/>
                </a:solidFill>
                <a:latin typeface="Liberation Sans"/>
              </a:rPr>
              <a:t>CRM reply &lt;=2h; ERP reg/letters &lt;=24h; -90% paper.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3. Quality Control: </a:t>
            </a:r>
            <a:r>
              <a:rPr sz="1550">
                <a:solidFill>
                  <a:srgbClr val="475569"/>
                </a:solidFill>
                <a:latin typeface="Liberation Sans"/>
              </a:rPr>
              <a:t>5 Reels/wk; 20K IG followers; &gt;=4.5/5.0 app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59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HR, Strategic &amp; Control Types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t>Control Types: Feedforward, Concurrent, Feedback (Traffic-Light: Green ≥100%, Amber 90–99%, Red &lt;90%).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4. HR Control: </a:t>
            </a:r>
            <a:r>
              <a:rPr sz="1550">
                <a:solidFill>
                  <a:srgbClr val="475569"/>
                </a:solidFill>
                <a:latin typeface="Liberation Sans"/>
              </a:rPr>
              <a:t>&gt;=95% of 120 staff pass test; 100% QR attendance.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5. Strategic Control: </a:t>
            </a:r>
            <a:r>
              <a:rPr sz="1550">
                <a:solidFill>
                  <a:srgbClr val="475569"/>
                </a:solidFill>
                <a:latin typeface="Liberation Sans"/>
              </a:rPr>
              <a:t>Direct share: 0% → 20% → 40% → 55% → 65% (260 stu).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Corrective Action: </a:t>
            </a:r>
            <a:r>
              <a:rPr sz="1550">
                <a:solidFill>
                  <a:srgbClr val="475569"/>
                </a:solidFill>
                <a:latin typeface="Liberation Sans"/>
              </a:rPr>
              <a:t>Reassign queues, pause weak ads, or $100 Rebate.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Section 6 &amp; Robbins &amp; Coulter (2021) Four-Step Control Process   |   Slide 12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5 | SECTION 6: QUARTERLY STRATEGIC CONTROL &amp; FORMULAS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Direct Online Enrolment Rises from 0% to 65% in Year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75488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Control Formulas &amp; Checkpoints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Baseline Today: </a:t>
            </a:r>
            <a:r>
              <a:rPr sz="1550">
                <a:solidFill>
                  <a:srgbClr val="475569"/>
                </a:solidFill>
                <a:latin typeface="Liberation Sans"/>
              </a:rPr>
              <a:t>0% direct (0 stu) / 100% agents (400 stu).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Month 6 Target: </a:t>
            </a:r>
            <a:r>
              <a:rPr sz="1550">
                <a:solidFill>
                  <a:srgbClr val="475569"/>
                </a:solidFill>
                <a:latin typeface="Liberation Sans"/>
              </a:rPr>
              <a:t>40% direct (160 stu); &lt;30% triggers $100 Rebate.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Month 12 Target: </a:t>
            </a:r>
            <a:r>
              <a:rPr sz="1550">
                <a:solidFill>
                  <a:srgbClr val="475569"/>
                </a:solidFill>
                <a:latin typeface="Liberation Sans"/>
              </a:rPr>
              <a:t>65% direct (260 stu) / 35% agents (140 stu).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Variance &amp; % Math: </a:t>
            </a:r>
            <a:r>
              <a:rPr sz="1550">
                <a:solidFill>
                  <a:srgbClr val="475569"/>
                </a:solidFill>
                <a:latin typeface="Liberation Sans"/>
              </a:rPr>
              <a:t>Variance = Actual − Target; % = (Actual÷Target)×100.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720" y="205740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ALFA OneHub CRM Quarterly Enrolment Source Projections (400 Annual Intake)   |   Slide 13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6 | SECTION 7: LEADERSHIP &amp; COMMUNICATION</a:t>
            </a:r>
          </a:p>
          <a:p>
            <a:pPr algn="l"/>
            <a:r>
              <a:rPr sz="2800" b="1">
                <a:solidFill>
                  <a:srgbClr val="8B0000"/>
                </a:solidFill>
                <a:latin typeface="Liberation Sans"/>
              </a:rPr>
              <a:t>Participative Leadership &amp; Two-Way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Leadership Style &amp; Communication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Participative Style: </a:t>
            </a:r>
            <a:r>
              <a:rPr sz="1550">
                <a:solidFill>
                  <a:srgbClr val="475569"/>
                </a:solidFill>
                <a:latin typeface="Liberation Sans"/>
              </a:rPr>
              <a:t>Involve 56 lecturers &amp; 6 creators in OneHub &amp; reel ideas.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Situational Coaching: </a:t>
            </a:r>
            <a:r>
              <a:rPr sz="1550">
                <a:solidFill>
                  <a:srgbClr val="475569"/>
                </a:solidFill>
                <a:latin typeface="Liberation Sans"/>
              </a:rPr>
              <a:t>Step-by-step ERP coaching for senior clerks (M5–M8).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Verbal Example: </a:t>
            </a:r>
            <a:r>
              <a:rPr sz="1550">
                <a:solidFill>
                  <a:srgbClr val="475569"/>
                </a:solidFill>
                <a:latin typeface="Liberation Sans"/>
              </a:rPr>
              <a:t>15-min Monday 9 AM spoken stand-up with 16 mktg staff.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Non-Verbal Example: </a:t>
            </a:r>
            <a:r>
              <a:rPr sz="1550">
                <a:solidFill>
                  <a:srgbClr val="475569"/>
                </a:solidFill>
                <a:latin typeface="Liberation Sans"/>
              </a:rPr>
              <a:t>Eye-level, smiling coaching posture + green TV badge.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FIB 2074 Lecture 5 &amp; Robbins &amp; Coulter (2021) Leadership Frameworks   |   Slide 14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6 | SECTION 7: EMPLOYEE MOTIVATION &amp; EMPOWERMENT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Maslow, Herzberg, $50 Bonus &amp; Empowerment Drive Effort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23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3657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1. Safety &amp; Hygiene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Textbook Basis: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Maslow (1943) Safety &amp; Herzberg (1968) Hygiene.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Zero Job Cuts: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Guarantee 0 retrenchments across all 120 staff.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Workstation Aid: </a:t>
            </a:r>
            <a:r>
              <a:rPr sz="1550">
                <a:solidFill>
                  <a:srgbClr val="475569"/>
                </a:solidFill>
                <a:latin typeface="Liberation Sans"/>
              </a:rPr>
              <a:t>Fast PCs, laminated cheat sheets &amp; IT floor help.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023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3657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2. Extrinsic &amp; Intrinsic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$50 Direct Bonus: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260 direct stu × $50 = $13,000/yr team pool.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$400 Team Award: </a:t>
            </a:r>
            <a:r>
              <a:rPr sz="1550">
                <a:solidFill>
                  <a:srgbClr val="475569"/>
                </a:solidFill>
                <a:latin typeface="Liberation Sans"/>
              </a:rPr>
              <a:t>~RM 1,750 Paperless Efficiency Award for &lt;24h ERP.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Public Recognition: </a:t>
            </a:r>
            <a:r>
              <a:rPr sz="1550">
                <a:solidFill>
                  <a:srgbClr val="475569"/>
                </a:solidFill>
                <a:latin typeface="Liberation Sans"/>
              </a:rPr>
              <a:t>Monthly 'ALFA Leader For All' town hall awards.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023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3657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3. Empowerment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Video Creators: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Publish campus reels without 7-day paper sign-off.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CRM Counselors: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Approve standard tuition instalment plans on chat.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Registry Officers: </a:t>
            </a:r>
            <a:r>
              <a:rPr sz="1550">
                <a:solidFill>
                  <a:srgbClr val="475569"/>
                </a:solidFill>
                <a:latin typeface="Liberation Sans"/>
              </a:rPr>
              <a:t>Issue digital verification letters in 1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Lecture 5 &amp; Textbook Motivation Theories (Maslow, 1943; Herzberg, 1968)   |   Slide 15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0D13"/>
                </a:solidFill>
                <a:latin typeface="Liberation Sans"/>
              </a:rPr>
              <a:t>MEMBER 7 | SECTIONS 8 &amp; 9: INTEGRATED POLC &amp; RECOMMENDATIONS</a:t>
            </a:r>
          </a:p>
          <a:p>
            <a:pPr algn="l"/>
            <a:r>
              <a:rPr sz="3000" b="1">
                <a:solidFill>
                  <a:srgbClr val="8B0000"/>
                </a:solidFill>
                <a:latin typeface="Liberation Sans"/>
              </a:rPr>
              <a:t>Connected POLC Cycle Delivers $97.5K Gross / $55.5K Net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B0000"/>
                </a:solidFill>
                <a:latin typeface="Liberation Sans"/>
              </a:rPr>
              <a:t>POLC Loop &amp; Top 3 Priorities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POLC Integration: </a:t>
            </a:r>
            <a:r>
              <a:rPr sz="1550">
                <a:solidFill>
                  <a:srgbClr val="475569"/>
                </a:solidFill>
                <a:latin typeface="Liberation Sans"/>
              </a:rPr>
              <a:t>Plan ($42K) → Organise (120) → Lead ($50) → Control (&lt;24h).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Priority 1 (M1–M2): </a:t>
            </a:r>
            <a:r>
              <a:rPr sz="1550">
                <a:solidFill>
                  <a:srgbClr val="475569"/>
                </a:solidFill>
                <a:latin typeface="Liberation Sans"/>
              </a:rPr>
              <a:t>Launch Student Studio ($4K) for 5 weekly Reels/TikToks.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Priority 2 (M2–M4): </a:t>
            </a:r>
            <a:r>
              <a:rPr sz="1550">
                <a:solidFill>
                  <a:srgbClr val="475569"/>
                </a:solidFill>
                <a:latin typeface="Liberation Sans"/>
              </a:rPr>
              <a:t>Enforce First Timestamp Rule ($1.5K); cap agents at 35%.</a:t>
            </a:r>
          </a:p>
          <a:p>
            <a:pPr algn="l" marL="219456" indent="-219456">
              <a:spcAft>
                <a:spcPts val="1000"/>
              </a:spcAft>
              <a:buFont typeface="Liberation Sans"/>
              <a:buChar char="•"/>
            </a:pPr>
            <a:r>
              <a:rPr sz="1700" b="1">
                <a:solidFill>
                  <a:srgbClr val="1E293B"/>
                </a:solidFill>
                <a:latin typeface="Liberation Sans"/>
              </a:rPr>
              <a:t>Priority 3 (M3–M6): </a:t>
            </a:r>
            <a:r>
              <a:rPr sz="1550">
                <a:solidFill>
                  <a:srgbClr val="475569"/>
                </a:solidFill>
                <a:latin typeface="Liberation Sans"/>
              </a:rPr>
              <a:t>Upgrade MyClass to ALFA OneHub Cloud ($9.5K; &lt;24h).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720" y="205740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Table 7 Turnaround Scorecard ($161.54/Direct Stu; $236.25 Blended; -90% Paper)   |   Slide 16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FBE9E7"/>
                </a:solidFill>
                <a:latin typeface="Liberation Sans"/>
              </a:rPr>
              <a:t>ALFA UNIVERSITY COLLEGE   |   A LEADER FOR ALL</a:t>
            </a:r>
          </a:p>
          <a:p>
            <a:pPr algn="ctr">
              <a:spcAft>
                <a:spcPts val="2000"/>
              </a:spcAft>
            </a:pPr>
            <a:r>
              <a:rPr sz="4200" b="1">
                <a:solidFill>
                  <a:srgbClr val="FFFFFF"/>
                </a:solidFill>
                <a:latin typeface="Liberation Sans"/>
              </a:rPr>
              <a:t>Smart Management Turns Ambition Into Action.</a:t>
            </a:r>
          </a:p>
          <a:p>
            <a:pPr algn="ctr">
              <a:spcAft>
                <a:spcPts val="1800"/>
              </a:spcAft>
            </a:pPr>
            <a:r>
              <a:rPr sz="2800" b="1">
                <a:solidFill>
                  <a:srgbClr val="FBE9E7"/>
                </a:solidFill>
                <a:latin typeface="Liberation Sans"/>
              </a:rPr>
              <a:t>Thank You &amp; Questions?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Liberation Sans"/>
              </a:rPr>
              <a:t>FIB 2074 – Introduction to Management   |   Members 1–7   |   Slide 17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