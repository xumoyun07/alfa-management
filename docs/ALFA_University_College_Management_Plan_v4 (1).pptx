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64592" cy="5577840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640080"/>
            <a:ext cx="10744200" cy="5577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05156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097280"/>
            <a:ext cx="1280160" cy="1280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40" y="1051560"/>
            <a:ext cx="2011680" cy="530352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Member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697480"/>
            <a:ext cx="9966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8B0000"/>
                </a:solidFill>
                <a:latin typeface="Arial"/>
              </a:rPr>
              <a:t>ALFA University College Management Plan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FIB 2074 Introduction to Management  |  Dr. Paul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400 Students • 120 Staff • 100% Agents -&gt; 65% Direct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$42,000 Budget • $97,500 Saved • ALFA OneHub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ALFA Profile &amp; Agent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88720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B0000"/>
                </a:solidFill>
                <a:latin typeface="Arial"/>
              </a:rPr>
              <a:t>1998 Alif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2017 Nusantara / 2021 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44368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B0000"/>
                </a:solidFill>
                <a:latin typeface="Arial"/>
              </a:rPr>
              <a:t>Subang Jaya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68 Courses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0016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8B0000"/>
                </a:solidFill>
                <a:latin typeface="Arial"/>
              </a:rPr>
              <a:t>120 Staff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400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605272" cy="5193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417320"/>
            <a:ext cx="487375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University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400 Students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32520" y="2295144"/>
            <a:ext cx="320040" cy="274320"/>
          </a:xfrm>
          <a:prstGeom prst="down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624328"/>
            <a:ext cx="4873752" cy="84124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286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12 Master Agents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5% ($125)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32520" y="3502152"/>
            <a:ext cx="320040" cy="274320"/>
          </a:xfrm>
          <a:prstGeom prst="down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831336"/>
            <a:ext cx="4873752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86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96 Sub-Agents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10% ($250)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32520" y="4709160"/>
            <a:ext cx="320040" cy="274320"/>
          </a:xfrm>
          <a:prstGeom prst="down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5038344"/>
            <a:ext cx="4873752" cy="84124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286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Student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$375 (15%)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Commission Cost vs. 65% Direct Saving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43000"/>
            <a:ext cx="6629400" cy="5257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440680"/>
            <a:ext cx="5897880" cy="3657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2194560"/>
            <a:ext cx="1234440" cy="3246120"/>
          </a:xfrm>
          <a:prstGeom prst="rect">
            <a:avLst/>
          </a:prstGeom>
          <a:solidFill>
            <a:srgbClr val="E80D13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691640"/>
            <a:ext cx="150876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$150,000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5504688"/>
            <a:ext cx="1572768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Today (100%)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328416"/>
            <a:ext cx="1234440" cy="2112264"/>
          </a:xfrm>
          <a:prstGeom prst="rect">
            <a:avLst/>
          </a:prstGeom>
          <a:solidFill>
            <a:srgbClr val="8B00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2825496"/>
            <a:ext cx="150876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$97,500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7" y="5504688"/>
            <a:ext cx="1572768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65% Saving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306824"/>
            <a:ext cx="1234440" cy="1133856"/>
          </a:xfrm>
          <a:prstGeom prst="rect">
            <a:avLst/>
          </a:prstGeom>
          <a:solidFill>
            <a:srgbClr val="FBE9E7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59" y="3803904"/>
            <a:ext cx="150876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$52,500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5504688"/>
            <a:ext cx="1572768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35% Kept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143000"/>
            <a:ext cx="4279392" cy="52578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8B0000"/>
                </a:solidFill>
                <a:latin typeface="Arial"/>
              </a:rPr>
              <a:t>Commission Model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Sub-Agent (10%): $250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Master (5% assump.): $125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Total: $375/stu ($150K/yr)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260 Direct Save: $97,500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Net of $42K: $55,500/yr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Student Journey &amp; 3 Theories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43000"/>
            <a:ext cx="2148840" cy="1325880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Today: 5–7d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BE9E7"/>
                </a:solidFill>
                <a:latin typeface="Arial"/>
              </a:rPr>
              <a:t>Paper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430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Paper Form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1645920"/>
            <a:ext cx="182880" cy="292608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1430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3–4 Stamps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600" y="1645920"/>
            <a:ext cx="182880" cy="292608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11430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Bank Slip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26880" y="1645920"/>
            <a:ext cx="182880" cy="292608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55480" y="11430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Manual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43200"/>
            <a:ext cx="2148840" cy="13258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Plan: &lt;24h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BE9E7"/>
                </a:solidFill>
                <a:latin typeface="Arial"/>
              </a:rPr>
              <a:t>OneHub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7432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Social DM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3246120"/>
            <a:ext cx="182880" cy="292608"/>
          </a:xfrm>
          <a:prstGeom prst="right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27432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Cloud Upload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600" y="3246120"/>
            <a:ext cx="182880" cy="292608"/>
          </a:xfrm>
          <a:prstGeom prst="right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27432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1-Click 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26880" y="3246120"/>
            <a:ext cx="182880" cy="292608"/>
          </a:xfrm>
          <a:prstGeom prst="rightArrow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5480" y="2743200"/>
            <a:ext cx="1965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8B0000"/>
                </a:solidFill>
                <a:latin typeface="Arial"/>
              </a:rPr>
              <a:t>QR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34840"/>
            <a:ext cx="3547872" cy="19202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Classical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24h 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5112" y="4434840"/>
            <a:ext cx="3547872" cy="19202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Behavioural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$50 Bonus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4434840"/>
            <a:ext cx="3547872" cy="19202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Contingency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65% Direct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Goal &amp; 3 SMART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43000"/>
            <a:ext cx="11183112" cy="13258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Goal: 65% Direct &amp; Paperless OneHub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3547872" cy="35204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Financial SMART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65% direct (260)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$97,500 saved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$55,500 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834640"/>
            <a:ext cx="3547872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Marketing SMART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5 Reels/wk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20,000 IG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&lt;=2h reply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7304" y="2834640"/>
            <a:ext cx="3547872" cy="35204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Digital SMART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OneHub (M6)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&lt;24h service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-90% paper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Strategy, Levels &amp; Contingency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88720"/>
            <a:ext cx="3520440" cy="516636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Timestamp Rule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DM locks lead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$0 agent fee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Strategic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65% direct &amp; OneHub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97180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Tactical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12 contracts &amp;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75488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Operational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5 Reels, &lt;2h, &lt;24h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88720"/>
            <a:ext cx="3520440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E80D13"/>
                </a:solidFill>
                <a:latin typeface="Arial"/>
              </a:rPr>
              <a:t>Contingency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M6 &lt;30%: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$100 Rebate (30)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12-Month Gantt Timeline ($42,000)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097280"/>
            <a:ext cx="11183112" cy="502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Phase ($42,000 Budget)                                  Q1                    Q2                    Q3                    Q4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111831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73936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P1: Studio ($4,000)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47088"/>
            <a:ext cx="1115568" cy="402336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M1–M2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1183112" cy="658368"/>
          </a:xfrm>
          <a:prstGeom prst="rect">
            <a:avLst/>
          </a:prstGeom>
          <a:solidFill>
            <a:srgbClr val="FBE9E7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542032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P2: Contracts ($1,500)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2664" y="2615184"/>
            <a:ext cx="1673352" cy="402336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M2–M4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55263"/>
            <a:ext cx="111831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10127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P3: OneHub ($9,500)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3383279"/>
            <a:ext cx="2231136" cy="402336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M3–M6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11183112" cy="658368"/>
          </a:xfrm>
          <a:prstGeom prst="rect">
            <a:avLst/>
          </a:prstGeom>
          <a:solidFill>
            <a:srgbClr val="FBE9E7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78224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P4: Ads &amp; Bonus ($25,000)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4151376"/>
            <a:ext cx="5577840" cy="402336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t>M4–M12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91456"/>
            <a:ext cx="111831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P5: Training ($2,000)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86016" y="4919472"/>
            <a:ext cx="2231136" cy="402336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M5–M8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59552"/>
            <a:ext cx="11183112" cy="658368"/>
          </a:xfrm>
          <a:prstGeom prst="rect">
            <a:avLst/>
          </a:prstGeom>
          <a:solidFill>
            <a:srgbClr val="FBE9E7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614416"/>
            <a:ext cx="406908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P6: KPI Audits ($0)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87568"/>
            <a:ext cx="3904487" cy="402336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M6–M12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Organising: 120 Staff &amp;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88720"/>
            <a:ext cx="2121408" cy="22402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Top: 5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BE9E7"/>
                </a:solidFill>
                <a:latin typeface="Arial"/>
              </a:rPr>
              <a:t>VC &amp; 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188720"/>
            <a:ext cx="212140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Academic: 65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56 Lecturers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188720"/>
            <a:ext cx="212140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Marketing: 20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16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6055" y="1188720"/>
            <a:ext cx="212140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IT: 12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9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3768" y="1188720"/>
            <a:ext cx="2121408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Ops: 18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14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547872" cy="2468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Authority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$12K ad control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794760"/>
            <a:ext cx="3547872" cy="2468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Delegation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Frontline speed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3794760"/>
            <a:ext cx="3547872" cy="2468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Unity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 Lead per staff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Organisation Chart &amp; Span of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794760" y="1097280"/>
            <a:ext cx="4572000" cy="82296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Top Management (5) — 120 Staff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3328" y="1920240"/>
            <a:ext cx="54864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3080" y="2286000"/>
            <a:ext cx="859536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83080" y="2286000"/>
            <a:ext cx="45720" cy="320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Academic (65)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56 Lecturers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Wide: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2286000"/>
            <a:ext cx="45720" cy="320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55848" y="260604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Marketing (20)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16 Specialists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98348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Narrow: 5–6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8936" y="2286000"/>
            <a:ext cx="45720" cy="320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60604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IT OneHub (12)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9 Specialists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98348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Narrow: 4–5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41864" y="2286000"/>
            <a:ext cx="45720" cy="320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61704" y="260604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Operations (18)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14 Officers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498348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Narrow: 4–5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6-Step Leading &amp; 5 Power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4300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B0000"/>
                </a:solidFill>
                <a:latin typeface="Arial"/>
              </a:rPr>
              <a:t>6 Steps: Direction • Communicate • Guide • Motivate • Support • Follow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212140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Legitimate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M8 paperless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2697480"/>
            <a:ext cx="2121408" cy="3611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Expert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IT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2697480"/>
            <a:ext cx="2121408" cy="36118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Referent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Respect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6055" y="2697480"/>
            <a:ext cx="212140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Reward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$50 bonus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73768" y="2697480"/>
            <a:ext cx="212140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Coercive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Last resort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Month 6 Registry Clerks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08760"/>
            <a:ext cx="2578608" cy="4434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1. Problem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2 clerks fear ERP;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40 files wait 5d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18104" y="3520440"/>
            <a:ext cx="201168" cy="365760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5848" y="1508760"/>
            <a:ext cx="257860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2. Referent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Coffee chat;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no shouting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71031" y="3520440"/>
            <a:ext cx="201168" cy="365760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508760"/>
            <a:ext cx="2578608" cy="44348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3. Expert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10-file Sandbox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+ buddy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23960" y="3520440"/>
            <a:ext cx="201168" cy="365760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61704" y="1508760"/>
            <a:ext cx="2578608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4. Result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40 files cleared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rial"/>
              </a:rPr>
              <a:t>in &lt;24h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Control Cycle &amp; Traffic-Light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051560"/>
            <a:ext cx="11183112" cy="59436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t>Traffic-Light:   Green &gt;=100%    Amber 90–99%    Red &lt;90%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956816" cy="841248"/>
          </a:xfrm>
          <a:prstGeom prst="rect">
            <a:avLst/>
          </a:prstGeom>
          <a:solidFill>
            <a:srgbClr val="8B0000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783080"/>
            <a:ext cx="3328416" cy="841248"/>
          </a:xfrm>
          <a:prstGeom prst="rect">
            <a:avLst/>
          </a:prstGeom>
          <a:solidFill>
            <a:srgbClr val="8B0000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783080"/>
            <a:ext cx="2505456" cy="841248"/>
          </a:xfrm>
          <a:prstGeom prst="rect">
            <a:avLst/>
          </a:prstGeom>
          <a:solidFill>
            <a:srgbClr val="8B0000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783080"/>
            <a:ext cx="3172968" cy="841248"/>
          </a:xfrm>
          <a:prstGeom prst="rect">
            <a:avLst/>
          </a:prstGeom>
          <a:solidFill>
            <a:srgbClr val="8B0000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15768"/>
            <a:ext cx="195681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Finance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715768"/>
            <a:ext cx="332841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$161.54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2715768"/>
            <a:ext cx="25054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715768"/>
            <a:ext cx="3172968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Pause 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195681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648456"/>
            <a:ext cx="332841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&lt;24h ERP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648456"/>
            <a:ext cx="250545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Timer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648456"/>
            <a:ext cx="3172968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Reassign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81144"/>
            <a:ext cx="195681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581144"/>
            <a:ext cx="332841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20K IG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4581144"/>
            <a:ext cx="25054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Survey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4581144"/>
            <a:ext cx="3172968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Reshoot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13832"/>
            <a:ext cx="195681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513832"/>
            <a:ext cx="332841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65% direct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5513832"/>
            <a:ext cx="2505456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CRM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5513832"/>
            <a:ext cx="3172968" cy="841248"/>
          </a:xfrm>
          <a:prstGeom prst="rect">
            <a:avLst/>
          </a:prstGeom>
          <a:solidFill>
            <a:srgbClr val="FBE9E7"/>
          </a:solidFill>
          <a:ln w="1524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Arial"/>
              </a:rPr>
              <a:t>$100 Rebate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Quarterly Direct Share &amp;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188720"/>
            <a:ext cx="653796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257800"/>
            <a:ext cx="868680" cy="1828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4764024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5504688"/>
            <a:ext cx="10972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4434840"/>
            <a:ext cx="86868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47672" y="3941063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20%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7672" y="5504688"/>
            <a:ext cx="10972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Q1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429000"/>
            <a:ext cx="868680" cy="2011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36391" y="2935224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40%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36391" y="5504688"/>
            <a:ext cx="10972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Q2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697480"/>
            <a:ext cx="868680" cy="2743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5112" y="2203704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55%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5504688"/>
            <a:ext cx="10972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Q3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194560"/>
            <a:ext cx="868680" cy="3246120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13832" y="1700784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65%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504688"/>
            <a:ext cx="10972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Q4 (260)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188720"/>
            <a:ext cx="4370832" cy="5120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8B0000"/>
                </a:solidFill>
                <a:latin typeface="Arial"/>
              </a:rPr>
              <a:t>Formulas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Variance = Actual - Target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Achievement = (Actual÷Target)×100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Direct = $42K÷260 = $161.54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Blended = $94.5K÷400 = $236.25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Leadership, Comm &amp; Motivation Triangle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Isosceles Triangle 7"/>
          <p:cNvSpPr/>
          <p:nvPr/>
        </p:nvSpPr>
        <p:spPr>
          <a:xfrm>
            <a:off x="1417320" y="1691640"/>
            <a:ext cx="4114800" cy="3886200"/>
          </a:xfrm>
          <a:prstGeom prst="triangle">
            <a:avLst/>
          </a:prstGeom>
          <a:solidFill>
            <a:srgbClr val="FBE9E7"/>
          </a:solidFill>
          <a:ln w="317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B0000"/>
                </a:solidFill>
                <a:latin typeface="Arial"/>
              </a:rPr>
              <a:t>
120 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143000"/>
            <a:ext cx="2286000" cy="73152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Leadership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86400"/>
            <a:ext cx="2423160" cy="731520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5486400"/>
            <a:ext cx="2423160" cy="731520"/>
          </a:xfrm>
          <a:prstGeom prst="roundRect">
            <a:avLst>
              <a:gd name="adj" fmla="val 4000"/>
            </a:avLst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Motivation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234440"/>
            <a:ext cx="484632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Participative &amp; Situational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Co-design screens + step-by-step clerk coaching.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886200"/>
            <a:ext cx="4846320" cy="23774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Verbal &amp; Non-Verbal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Mon 9 AM huddle + eye-level coaching &amp; TV badge.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Maslow &amp; Herzberg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83079" y="1234440"/>
            <a:ext cx="2926080" cy="841248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Self-Actualisation: 1-Click ERP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39" y="2240280"/>
            <a:ext cx="3566160" cy="841248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Esteem: Leader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246120"/>
            <a:ext cx="4206240" cy="84124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Social: Buddy Pairs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4251960"/>
            <a:ext cx="4846320" cy="84124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Safety: Zero Job Cuts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19" y="5257800"/>
            <a:ext cx="5486400" cy="84124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Physiological: Fast PCs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23444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0000"/>
                </a:solidFill>
                <a:latin typeface="Arial"/>
              </a:rPr>
              <a:t>Hygiene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Zero job cuts &amp; fast PCs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8862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80D13"/>
                </a:solidFill>
                <a:latin typeface="Arial"/>
              </a:rPr>
              <a:t>Motivators ($13,000)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$50 bonus × 260 + $400 awards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Integrated POLC Cycle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64592"/>
            <a:ext cx="1965960" cy="512064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8B0000"/>
                </a:solidFill>
                <a:latin typeface="Arial"/>
              </a:rPr>
              <a:t>Member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56848" y="100584"/>
            <a:ext cx="6400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137160"/>
            <a:ext cx="566928" cy="5669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2971800"/>
            <a:ext cx="2953512" cy="1508760"/>
          </a:xfrm>
          <a:prstGeom prst="ellipse">
            <a:avLst/>
          </a:prstGeom>
          <a:solidFill>
            <a:srgbClr val="8B0000"/>
          </a:solidFill>
          <a:ln w="317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ALFA OneHub
POLC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1. PLANNING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65% direct &amp; $97.5K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23444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2. ORGANISING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120 staff &amp; spans (7 / 4–6)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4. CONTROLLING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$161.54 direct &amp; KPIs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25196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8B0000"/>
                </a:solidFill>
                <a:latin typeface="Arial"/>
              </a:rPr>
              <a:t>3. LEADING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Arial"/>
              </a:rPr>
              <a:t>Sandbox &amp; $50 bonus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09160" y="1965960"/>
            <a:ext cx="2743200" cy="365760"/>
          </a:xfrm>
          <a:prstGeom prst="righ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372600" y="3474720"/>
            <a:ext cx="365760" cy="594360"/>
          </a:xfrm>
          <a:prstGeom prst="down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4709160" y="5120640"/>
            <a:ext cx="2743200" cy="365760"/>
          </a:xfrm>
          <a:prstGeom prst="left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2331720" y="3474720"/>
            <a:ext cx="365760" cy="594360"/>
          </a:xfrm>
          <a:prstGeom prst="upArrow">
            <a:avLst/>
          </a:prstGeom>
          <a:solidFill>
            <a:srgbClr val="E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10451592" cy="530352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317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25880" y="1143000"/>
            <a:ext cx="12801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5202886c280f72db44c68092536797c9456a3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1188720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06840" y="1143000"/>
            <a:ext cx="1920240" cy="530352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 w="19050">
            <a:solidFill>
              <a:srgbClr val="E80D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Member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697480"/>
            <a:ext cx="95097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8B0000"/>
                </a:solidFill>
                <a:latin typeface="Arial"/>
              </a:rPr>
              <a:t>Thank You!  |  "A Leader For All"</a:t>
            </a:r>
          </a:p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1998 Alif Creative Academy • 2017 Nusantara • 2021 UC</a:t>
            </a:r>
          </a:p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65% Direct (260 Students) • $97,500 Saved • &lt;24h OneHub</a:t>
            </a:r>
          </a:p>
          <a:p>
            <a:pPr algn="ctr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