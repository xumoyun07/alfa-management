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Tuition Kept ($K)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Current Agent Model</c:v>
                </c:pt>
                <c:pt idx="1">
                  <c:v>Proposed Digital Plan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770.0</c:v>
                </c:pt>
                <c:pt idx="1">
                  <c:v>905.5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 Agent Fee ($K)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Current Agent Model</c:v>
                </c:pt>
                <c:pt idx="1">
                  <c:v>Proposed Digital Plan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132.0</c:v>
                </c:pt>
                <c:pt idx="1">
                  <c:v>52.5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10% Sub-Agent Fee ($K)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Current Agent Model</c:v>
                </c:pt>
                <c:pt idx="1">
                  <c:v>Proposed Digital Plan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88.0</c:v>
                </c:pt>
                <c:pt idx="1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In-House Digital &amp; OneHub ($K)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Current Agent Model</c:v>
                </c:pt>
                <c:pt idx="1">
                  <c:v>Proposed Digital Plan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10.0</c:v>
                </c:pt>
                <c:pt idx="1">
                  <c:v>42.0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Carlit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Direct Social &amp; CRM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Quarter 1</c:v>
                </c:pt>
                <c:pt idx="2">
                  <c:v>Quarter 2</c:v>
                </c:pt>
                <c:pt idx="3">
                  <c:v>Quarter 3</c:v>
                </c:pt>
                <c:pt idx="4">
                  <c:v>Quarter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40</c:v>
                </c:pt>
                <c:pt idx="3">
                  <c:v>52</c:v>
                </c:pt>
                <c:pt idx="4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Agents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Quarter 1</c:v>
                </c:pt>
                <c:pt idx="2">
                  <c:v>Quarter 2</c:v>
                </c:pt>
                <c:pt idx="3">
                  <c:v>Quarter 3</c:v>
                </c:pt>
                <c:pt idx="4">
                  <c:v>Quarter 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</c:v>
                </c:pt>
                <c:pt idx="1">
                  <c:v>75</c:v>
                </c:pt>
                <c:pt idx="2">
                  <c:v>60</c:v>
                </c:pt>
                <c:pt idx="3">
                  <c:v>48</c:v>
                </c:pt>
                <c:pt idx="4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Carlit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4" name="Rounded Rectangle 3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8181B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CA5A5"/>
                </a:solidFill>
                <a:latin typeface="Carlito"/>
              </a:rPr>
              <a:t>FIB 2074 | FINAL GROUP PROJECT</a:t>
            </a:r>
          </a:p>
          <a:p>
            <a:pPr>
              <a:spcAft>
                <a:spcPts val="1400"/>
              </a:spcAft>
            </a:pPr>
            <a:r>
              <a:rPr sz="4800" b="1">
                <a:solidFill>
                  <a:srgbClr val="F8FAFC"/>
                </a:solidFill>
                <a:latin typeface="Carlito"/>
              </a:rPr>
              <a:t>ALFA University College Management Plan</a:t>
            </a:r>
          </a:p>
          <a:p>
            <a:r>
              <a:rPr sz="2200">
                <a:solidFill>
                  <a:srgbClr val="E2E8F0"/>
                </a:solidFill>
                <a:latin typeface="Carlito"/>
              </a:rPr>
              <a:t>Solving Multi-Tier Agent Leakage and Paper Bureaucracy via POLC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rlito"/>
              </a:rPr>
              <a:t>7-Member Team | Lecturer: Dr. Paul   |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1 | SECTION A: BUSINESS SITUATION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Agent Fees and Paper Slow ALFA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ALFA Profile &amp; Operational Bottlenecks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Campus Profile: </a:t>
            </a:r>
            <a:r>
              <a:rPr sz="1600">
                <a:solidFill>
                  <a:srgbClr val="475569"/>
                </a:solidFill>
                <a:latin typeface="Carlito"/>
              </a:rPr>
              <a:t>Subang Jaya campus, 68 MQA courses, 120 full-time staff.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Problem 1 (Agent Trap): </a:t>
            </a:r>
            <a:r>
              <a:rPr sz="1600">
                <a:solidFill>
                  <a:srgbClr val="475569"/>
                </a:solidFill>
                <a:latin typeface="Carlito"/>
              </a:rPr>
              <a:t>12 master agents hire ~96 sub-agents taking 25% of $2,500 tuition.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Dormant Social Media: </a:t>
            </a:r>
            <a:r>
              <a:rPr sz="1600">
                <a:solidFill>
                  <a:srgbClr val="475569"/>
                </a:solidFill>
                <a:latin typeface="Carlito"/>
              </a:rPr>
              <a:t>Existing IG (2.1K), TikTok &amp; YT accounts barely move.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Problem 2 (MyClass Limit): </a:t>
            </a:r>
            <a:r>
              <a:rPr sz="1600">
                <a:solidFill>
                  <a:srgbClr val="475569"/>
                </a:solidFill>
                <a:latin typeface="Carlito"/>
              </a:rPr>
              <a:t>MyClass only shows PDF grades; 5–7 days for 3–4 paper stamps.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ALFA Official Info (alfa.edu.my) &amp; Student Team Model   |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1 | SECTION A: UNIFIED BUDGET MODEL ($2,500 TUITION)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Cutting 10% Sub-Agents Saves $135,500 Net Annually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Per-Student Tuition Split ($2,500)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10% Sub-Agent Tier: </a:t>
            </a:r>
            <a:r>
              <a:rPr sz="1600">
                <a:solidFill>
                  <a:srgbClr val="475569"/>
                </a:solidFill>
                <a:latin typeface="Carlito"/>
              </a:rPr>
              <a:t>$250 x 352 agent students wastes $88,000/yr.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15% Master Agent Tier: </a:t>
            </a:r>
            <a:r>
              <a:rPr sz="1600">
                <a:solidFill>
                  <a:srgbClr val="475569"/>
                </a:solidFill>
                <a:latin typeface="Carlito"/>
              </a:rPr>
              <a:t>$375 x 352 = $132K ($220K total agent fees + $10K old ads).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Proposed Plan ($94.5K): </a:t>
            </a:r>
            <a:r>
              <a:rPr sz="1600">
                <a:solidFill>
                  <a:srgbClr val="475569"/>
                </a:solidFill>
                <a:latin typeface="Carlito"/>
              </a:rPr>
              <a:t>$52.5K agents + $42K digital/OneHub saves $135.5K/yr net.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212080" y="2011680"/>
          <a:ext cx="62179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Internal Financial Model Based on 400 Annual New Students ($1,000,000 Gross Tuition)   |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2 | SECTION B: MANAGEMENT THEORIES (LECTURE 2)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Three Management Theories Guide Our Practical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9201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73481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1. Classical Theory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Main Focus: </a:t>
            </a:r>
            <a:r>
              <a:rPr sz="1600">
                <a:solidFill>
                  <a:srgbClr val="475569"/>
                </a:solidFill>
                <a:latin typeface="Carlito"/>
              </a:rPr>
              <a:t>Work structure, standardisation, and efficiency.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24-Hr Digital SOP: </a:t>
            </a:r>
            <a:r>
              <a:rPr sz="1600">
                <a:solidFill>
                  <a:srgbClr val="475569"/>
                </a:solidFill>
                <a:latin typeface="Carlito"/>
              </a:rPr>
              <a:t>Upgrade MyClass into OneHub (&lt;24-hr ERP).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Marketing Split: </a:t>
            </a:r>
            <a:r>
              <a:rPr sz="1600">
                <a:solidFill>
                  <a:srgbClr val="475569"/>
                </a:solidFill>
                <a:latin typeface="Carlito"/>
              </a:rPr>
              <a:t>Split 20 staff: 6 Video, 6 CRM, 4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19201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73481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2. Behavioural Theory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Main Focus: </a:t>
            </a:r>
            <a:r>
              <a:rPr sz="1600">
                <a:solidFill>
                  <a:srgbClr val="475569"/>
                </a:solidFill>
                <a:latin typeface="Carlito"/>
              </a:rPr>
              <a:t>People, morale, relationships, and motivation.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Involve 120 Staff: </a:t>
            </a:r>
            <a:r>
              <a:rPr sz="1600">
                <a:solidFill>
                  <a:srgbClr val="475569"/>
                </a:solidFill>
                <a:latin typeface="Carlito"/>
              </a:rPr>
              <a:t>Co-design ERP screens so clerks feel supported.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$50 Direct Bonus: </a:t>
            </a:r>
            <a:r>
              <a:rPr sz="1600">
                <a:solidFill>
                  <a:srgbClr val="475569"/>
                </a:solidFill>
                <a:latin typeface="Carlito"/>
              </a:rPr>
              <a:t>Reward staff for each direct online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19201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73481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3. Contingency Theory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Main Focus: </a:t>
            </a:r>
            <a:r>
              <a:rPr sz="1600">
                <a:solidFill>
                  <a:srgbClr val="475569"/>
                </a:solidFill>
                <a:latin typeface="Carlito"/>
              </a:rPr>
              <a:t>Adapt management approach to the exact situation.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Tailored Coaching: </a:t>
            </a:r>
            <a:r>
              <a:rPr sz="1600">
                <a:solidFill>
                  <a:srgbClr val="475569"/>
                </a:solidFill>
                <a:latin typeface="Carlito"/>
              </a:rPr>
              <a:t>Freedom for young staff; buddy help for clerks.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Market Adaptation: </a:t>
            </a:r>
            <a:r>
              <a:rPr sz="1600">
                <a:solidFill>
                  <a:srgbClr val="475569"/>
                </a:solidFill>
                <a:latin typeface="Carlito"/>
              </a:rPr>
              <a:t>Direct ads in SE/Central Asia; agents in China.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FIB 2074 Lecture 2 (Classical, Behavioural &amp; Contingency Approaches)   |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3 | SECTION C: PLANNING THE BUSINESS (LECTURE 3)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SMART Plan Targets 65% Direct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Robbins &amp; Coulter 3-Step Plan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SMART Objective 1: </a:t>
            </a:r>
            <a:r>
              <a:rPr sz="1600">
                <a:solidFill>
                  <a:srgbClr val="475569"/>
                </a:solidFill>
                <a:latin typeface="Carlito"/>
              </a:rPr>
              <a:t>Cut total cost from $230K ($575/stu) to $94.5K ($236/stu).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SMART Objective 2: </a:t>
            </a:r>
            <a:r>
              <a:rPr sz="1600">
                <a:solidFill>
                  <a:srgbClr val="475569"/>
                </a:solidFill>
                <a:latin typeface="Carlito"/>
              </a:rPr>
              <a:t>Grow IG to 20K followers and reach 65% direct online intake.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SMART Objective 3: </a:t>
            </a:r>
            <a:r>
              <a:rPr sz="1600">
                <a:solidFill>
                  <a:srgbClr val="475569"/>
                </a:solidFill>
                <a:latin typeface="Carlito"/>
              </a:rPr>
              <a:t>Upgrade MyClass to OneHub by M6; student wait &lt;24 hrs.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Contingency Plan: </a:t>
            </a:r>
            <a:r>
              <a:rPr sz="1600">
                <a:solidFill>
                  <a:srgbClr val="475569"/>
                </a:solidFill>
                <a:latin typeface="Carlito"/>
              </a:rPr>
              <a:t>Shift $3K ad funds to $100 Early-Bird Rebate if M6 &lt; 30%.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FIB 2074 Lecture 3 (Robbins &amp; Coulter Framework, SMART Objectives &amp; Contingency Plans)   |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3 | SECTION C: ACTION PLAN &amp; TIMELINE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Six-Phase Action Plan Connects Resources and Deadlines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023360"/>
                <a:gridCol w="2286000"/>
                <a:gridCol w="2286000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Phase &amp; Timeline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What Will Be Done (Action)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Who Is Responsible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Budget / Resource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M1–M2: Social Setup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Align IG/TikTok/YT; hire 8 student ambassadors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Marketing Director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$4,000 Studio &amp; Gear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M2–M4: Agent Reform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Remove 10% sub-agent tier; cap 12 agents at 15%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VC &amp; Finance Sup.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$1,500 Contract Update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M3–M6: ALFA OneHub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Upgrade MyClass into unified CRM, ERP &amp; HRM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Chief IT Manager (12)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$9,500 Cloud Upgrade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M4–M12: Ads &amp; Bonus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Meta/TikTok ads ($12K) + $50 direct bonus ($13K)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Social &amp; CRM Leads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$25,000 Ads &amp; Bonuses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M5–M8: Staff Rollout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Train 120 staff; 100% paperless by M8 ($42K Total)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Operations &amp; HR Mgr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$2,000 Training &amp; Awards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FIB 2074 Lecture 3 (Six Steps to Plan Effectively)   | 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4 | SECTION D: ORGANISING THE BUSINESS (LECTURE 4)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Four Divisions Align Authority, Span of Control, and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Division of 120 Staff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Top Level (5): </a:t>
            </a:r>
            <a:r>
              <a:rPr sz="1600">
                <a:solidFill>
                  <a:srgbClr val="475569"/>
                </a:solidFill>
                <a:latin typeface="Carlito"/>
              </a:rPr>
              <a:t>Chairman &amp; VC set strategy, budget, and 15% agent cap.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Academic (65): </a:t>
            </a:r>
            <a:r>
              <a:rPr sz="1600">
                <a:solidFill>
                  <a:srgbClr val="475569"/>
                </a:solidFill>
                <a:latin typeface="Carlito"/>
              </a:rPr>
              <a:t>1 Director, 8 Coordinators, 56 lecturers (1+8+56=65).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Marketing/IT/Ops (50): </a:t>
            </a:r>
            <a:r>
              <a:rPr sz="1600">
                <a:solidFill>
                  <a:srgbClr val="475569"/>
                </a:solidFill>
                <a:latin typeface="Carlito"/>
              </a:rPr>
              <a:t>Marketing (20), IT OneHub (12), and Registry/HR (18).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Authority &amp; Delegation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Match Authority: </a:t>
            </a:r>
            <a:r>
              <a:rPr sz="1600">
                <a:solidFill>
                  <a:srgbClr val="475569"/>
                </a:solidFill>
                <a:latin typeface="Carlito"/>
              </a:rPr>
              <a:t>Marketing Head gets ad budget &amp; blocks sub-agents.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Smart Delegation: </a:t>
            </a:r>
            <a:r>
              <a:rPr sz="1600">
                <a:solidFill>
                  <a:srgbClr val="475569"/>
                </a:solidFill>
                <a:latin typeface="Carlito"/>
              </a:rPr>
              <a:t>CRM Leads approve quotes; Head keeps accountability.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Unity of Command: </a:t>
            </a:r>
            <a:r>
              <a:rPr sz="1600">
                <a:solidFill>
                  <a:srgbClr val="475569"/>
                </a:solidFill>
                <a:latin typeface="Carlito"/>
              </a:rPr>
              <a:t>Creators report to one Lead, ending conflicts.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Span &amp; Decentralisation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Wide Span (7): </a:t>
            </a:r>
            <a:r>
              <a:rPr sz="1600">
                <a:solidFill>
                  <a:srgbClr val="475569"/>
                </a:solidFill>
                <a:latin typeface="Carlito"/>
              </a:rPr>
              <a:t>8 Coordinators supervise 7 experienced lecturers each.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Narrow Span (4–6): </a:t>
            </a:r>
            <a:r>
              <a:rPr sz="1600">
                <a:solidFill>
                  <a:srgbClr val="475569"/>
                </a:solidFill>
                <a:latin typeface="Carlito"/>
              </a:rPr>
              <a:t>Marketing, IT &amp; Registry Leads coach digital teams.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Hybrid Decisions: </a:t>
            </a:r>
            <a:r>
              <a:rPr sz="1600">
                <a:solidFill>
                  <a:srgbClr val="475569"/>
                </a:solidFill>
                <a:latin typeface="Carlito"/>
              </a:rPr>
              <a:t>Tuition centralised; 24-hr ERP approvals decentralised.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FIB 2074 Lecture 4 (Organising Process, Authority, Span of Control &amp; Centralisation)   |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5 | SECTION E: LEADING THE BUSINESS (LECTURE 5)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Five Power Sources Guide Staff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Power, Influence &amp; Workplace Case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Legitimate &amp; Coercive: </a:t>
            </a:r>
            <a:r>
              <a:rPr sz="1600">
                <a:solidFill>
                  <a:srgbClr val="475569"/>
                </a:solidFill>
                <a:latin typeface="Carlito"/>
              </a:rPr>
              <a:t>Mandate paperless OneHub usage and ban secret sub-agent splits.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Expert &amp; Referent: </a:t>
            </a:r>
            <a:r>
              <a:rPr sz="1600">
                <a:solidFill>
                  <a:srgbClr val="475569"/>
                </a:solidFill>
                <a:latin typeface="Carlito"/>
              </a:rPr>
              <a:t>IT/Marketing leads demonstrate tools patiently with respect.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Reward Power: </a:t>
            </a:r>
            <a:r>
              <a:rPr sz="1600">
                <a:solidFill>
                  <a:srgbClr val="475569"/>
                </a:solidFill>
                <a:latin typeface="Carlito"/>
              </a:rPr>
              <a:t>$50/student direct enrollment bonus and monthly awards.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Registry Clerk Case: </a:t>
            </a:r>
            <a:r>
              <a:rPr sz="1600">
                <a:solidFill>
                  <a:srgbClr val="475569"/>
                </a:solidFill>
                <a:latin typeface="Carlito"/>
              </a:rPr>
              <a:t>Use sandbox practice &amp; buddy coaching to clear 40-file backlog.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FIB 2074 Lecture 5 (Leading Process, Power vs. Influence &amp; 5 Power Sources)   |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6 | SECTION F: CONTROLLING BUSINESS PERFORMANCE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Five-Area Control System Tracks Standards and Fixes Gaps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834640"/>
                <a:gridCol w="3017520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Control Area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1. What Is Monitored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2. Target Standard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3. Corrective Action if Below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Financial Control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Blended CAC &amp; agent fees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&lt;= $236.25/stu ($94.5K/yr)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Pause weak ads; audit agent invoices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Operations Control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CRM reply &amp; student ERP speed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Reply &lt;= 2h; Course/Exam &lt;= 24h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Reassign files across Registry staff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Quality Control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Social engagement &amp; student score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5 Reels/wk; &gt;= 4.5/5.0 survey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Shift to native-language student Q&amp;As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HR Control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120 staff OneHub usage &amp; 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&gt;= 95% pass by M8; QR attendance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Run 1-on-1 IT floor buddy coaching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rlito"/>
                        </a:rPr>
                        <a:t>Strategic Control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Direct vs. Agent intake share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&gt;= 40% (M6) to &gt;= 65% (M12)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Carlito"/>
                        </a:rPr>
                        <a:t>Shift $3K to $100 Early-Bird Rebate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FIB 2074 Section F (4-Step Control Loop Across 5 Management Control Areas)   |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6 | SECTION F: QUARTERLY STRATEGIC CONTROL METRICS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Direct Digital Enrollment Rises from 12% to 65% in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Quarterly Control Checkpoints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Baseline Today: </a:t>
            </a:r>
            <a:r>
              <a:rPr sz="1600">
                <a:solidFill>
                  <a:srgbClr val="475569"/>
                </a:solidFill>
                <a:latin typeface="Carlito"/>
              </a:rPr>
              <a:t>88% agent dependency; only 12% direct online intake.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Month 6 Checkpoint: </a:t>
            </a:r>
            <a:r>
              <a:rPr sz="1600">
                <a:solidFill>
                  <a:srgbClr val="475569"/>
                </a:solidFill>
                <a:latin typeface="Carlito"/>
              </a:rPr>
              <a:t>40% direct digital intake after ALFA OneHub CRM launch.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Month 12 Target: </a:t>
            </a:r>
            <a:r>
              <a:rPr sz="1600">
                <a:solidFill>
                  <a:srgbClr val="475569"/>
                </a:solidFill>
                <a:latin typeface="Carlito"/>
              </a:rPr>
              <a:t>65% direct intake (260 stu), retaining $905.5K net (+$135.5K).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212080" y="2011680"/>
          <a:ext cx="62179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ALFA OneHub CRM Quarterly Enrollment Source Tracking Projections   |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Carlito"/>
              </a:rPr>
              <a:t>SPEAKER 7 | SECTIONS G &amp; H: PEOPLE MANAGEMENT &amp; RECOMMENDATIONS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People and POLC Drive $135.5K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B91C1C"/>
                </a:solidFill>
                <a:latin typeface="Carlito"/>
              </a:rPr>
              <a:t>People Management &amp; Top Actions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Leadership Style: </a:t>
            </a:r>
            <a:r>
              <a:rPr sz="1600">
                <a:solidFill>
                  <a:srgbClr val="475569"/>
                </a:solidFill>
                <a:latin typeface="Carlito"/>
              </a:rPr>
              <a:t>Participative brainstorming for creators; coaching for ERP staff.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Communication: </a:t>
            </a:r>
            <a:r>
              <a:rPr sz="1600">
                <a:solidFill>
                  <a:srgbClr val="475569"/>
                </a:solidFill>
                <a:latin typeface="Carlito"/>
              </a:rPr>
              <a:t>Monday verbal stand-ups + patient eye-level non-verbal coaching.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Motivation &amp; Power: </a:t>
            </a:r>
            <a:r>
              <a:rPr sz="1600">
                <a:solidFill>
                  <a:srgbClr val="475569"/>
                </a:solidFill>
                <a:latin typeface="Carlito"/>
              </a:rPr>
              <a:t>$50 direct bonus ($13K), $400 team award &amp; 1-click ERP power.</a:t>
            </a:r>
          </a:p>
          <a:p>
            <a:pPr algn="l" marL="219456" indent="-219456">
              <a:spcAft>
                <a:spcPts val="12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rlito"/>
              </a:rPr>
              <a:t>Top 3 Priorities: </a:t>
            </a:r>
            <a:r>
              <a:rPr sz="1600">
                <a:solidFill>
                  <a:srgbClr val="475569"/>
                </a:solidFill>
                <a:latin typeface="Carlito"/>
              </a:rPr>
              <a:t>Activate social studio, cap agents at 15%, upgrade MyClass.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Source: FIB 2074 Sections G &amp; H (People Management &amp; Integrated POLC Cycle)   | 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CA5A5"/>
                </a:solidFill>
                <a:latin typeface="Carlito"/>
              </a:rPr>
              <a:t>ALFA UNIVERSITY COLLEGE   |   A LEADER FOR ALL</a:t>
            </a:r>
          </a:p>
          <a:p>
            <a:pPr algn="ctr">
              <a:spcAft>
                <a:spcPts val="1600"/>
              </a:spcAft>
            </a:pPr>
            <a:r>
              <a:rPr sz="4400" b="1">
                <a:solidFill>
                  <a:srgbClr val="F8FAFC"/>
                </a:solidFill>
                <a:latin typeface="Carlito"/>
              </a:rPr>
              <a:t>Smart Management Turns Ambition Into Action.</a:t>
            </a:r>
          </a:p>
          <a:p>
            <a:pPr algn="ctr"/>
            <a:r>
              <a:rPr sz="2400">
                <a:solidFill>
                  <a:srgbClr val="CBD5E1"/>
                </a:solidFill>
                <a:latin typeface="Carlito"/>
              </a:rPr>
              <a:t>Thank You &amp;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rlito"/>
              </a:rPr>
              <a:t>FIB 2074 – Introduction to Management | Group Presentation (Speakers 1–7)   |  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