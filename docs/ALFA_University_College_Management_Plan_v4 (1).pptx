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164592" cy="5577840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640080"/>
            <a:ext cx="10744200" cy="557784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80160" y="1051560"/>
            <a:ext cx="1371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097280"/>
            <a:ext cx="1280160" cy="12801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235440" y="1051560"/>
            <a:ext cx="2011680" cy="530352"/>
          </a:xfrm>
          <a:prstGeom prst="roundRect">
            <a:avLst>
              <a:gd name="adj" fmla="val 4000"/>
            </a:avLst>
          </a:prstGeom>
          <a:solidFill>
            <a:srgbClr val="8B0000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Member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697480"/>
            <a:ext cx="996696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8B0000"/>
                </a:solidFill>
                <a:latin typeface="Arial"/>
              </a:rPr>
              <a:t>ALFA University College Management Plan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262626"/>
                </a:solidFill>
                <a:latin typeface="Arial"/>
              </a:rPr>
              <a:t>FIB 2074 Introduction to Management  |  Dr. Paul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262626"/>
                </a:solidFill>
                <a:latin typeface="Arial"/>
              </a:rPr>
              <a:t>400 Students • 120 Staff • 100% Agents -&gt; 65% Direct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262626"/>
                </a:solidFill>
                <a:latin typeface="Arial"/>
              </a:rPr>
              <a:t>$42,000 Budget • $97,500 Saved • ALFA OneHub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ALFA Profile &amp; Agent Chain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164592"/>
            <a:ext cx="1965960" cy="512064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Member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56848" y="100584"/>
            <a:ext cx="6400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BE9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137160"/>
            <a:ext cx="566928" cy="5669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188720"/>
            <a:ext cx="5257800" cy="1508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8B0000"/>
                </a:solidFill>
                <a:latin typeface="Arial"/>
              </a:rPr>
              <a:t>1998 Alif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2017 Nusantara / 2021 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44368"/>
            <a:ext cx="5257800" cy="150876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8B0000"/>
                </a:solidFill>
                <a:latin typeface="Arial"/>
              </a:rPr>
              <a:t>Subang Jaya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68 Courses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0016"/>
            <a:ext cx="5257800" cy="1508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8B0000"/>
                </a:solidFill>
                <a:latin typeface="Arial"/>
              </a:rPr>
              <a:t>120 Staff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400 Students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188720"/>
            <a:ext cx="5605272" cy="51937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6520" y="1417320"/>
            <a:ext cx="4873752" cy="841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8B0000"/>
                </a:solidFill>
                <a:latin typeface="Arial"/>
              </a:rPr>
              <a:t>University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400 Students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732520" y="2295144"/>
            <a:ext cx="320040" cy="274320"/>
          </a:xfrm>
          <a:prstGeom prst="downArrow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2624328"/>
            <a:ext cx="4873752" cy="841248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286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8B0000"/>
                </a:solidFill>
                <a:latin typeface="Arial"/>
              </a:rPr>
              <a:t>12 Master Agents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5% ($125)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732520" y="3502152"/>
            <a:ext cx="320040" cy="274320"/>
          </a:xfrm>
          <a:prstGeom prst="downArrow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46520" y="3831336"/>
            <a:ext cx="4873752" cy="841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8B0000"/>
                </a:solidFill>
                <a:latin typeface="Arial"/>
              </a:rPr>
              <a:t>96 Sub-Agents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10% ($250)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732520" y="4709160"/>
            <a:ext cx="320040" cy="274320"/>
          </a:xfrm>
          <a:prstGeom prst="downArrow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46520" y="5038344"/>
            <a:ext cx="4873752" cy="841248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286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8B0000"/>
                </a:solidFill>
                <a:latin typeface="Arial"/>
              </a:rPr>
              <a:t>Student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$375 (15%)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Commission Cost vs. 65% Direct Saving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164592"/>
            <a:ext cx="1965960" cy="512064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Member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56848" y="100584"/>
            <a:ext cx="6400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BE9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137160"/>
            <a:ext cx="566928" cy="5669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143000"/>
            <a:ext cx="6629400" cy="525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5440680"/>
            <a:ext cx="5897880" cy="36576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88720" y="2194560"/>
            <a:ext cx="1234440" cy="3246120"/>
          </a:xfrm>
          <a:prstGeom prst="rect">
            <a:avLst/>
          </a:prstGeom>
          <a:solidFill>
            <a:srgbClr val="E80D13"/>
          </a:solidFill>
          <a:ln w="1905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51560" y="1691640"/>
            <a:ext cx="150876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8B0000"/>
                </a:solidFill>
                <a:latin typeface="Arial"/>
              </a:rPr>
              <a:t>$150,000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5504688"/>
            <a:ext cx="1572768" cy="6217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Today (100%)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3328416"/>
            <a:ext cx="1234440" cy="2112264"/>
          </a:xfrm>
          <a:prstGeom prst="rect">
            <a:avLst/>
          </a:prstGeom>
          <a:solidFill>
            <a:srgbClr val="8B0000"/>
          </a:solidFill>
          <a:ln w="1905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08960" y="2825496"/>
            <a:ext cx="150876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8B0000"/>
                </a:solidFill>
                <a:latin typeface="Arial"/>
              </a:rPr>
              <a:t>$97,500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81527" y="5504688"/>
            <a:ext cx="1572768" cy="6217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65% Saving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0" y="4306824"/>
            <a:ext cx="1234440" cy="1133856"/>
          </a:xfrm>
          <a:prstGeom prst="rect">
            <a:avLst/>
          </a:prstGeom>
          <a:solidFill>
            <a:srgbClr val="FBE9E7"/>
          </a:solidFill>
          <a:ln w="1905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66359" y="3803904"/>
            <a:ext cx="150876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8B0000"/>
                </a:solidFill>
                <a:latin typeface="Arial"/>
              </a:rPr>
              <a:t>$52,500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5504688"/>
            <a:ext cx="1572768" cy="6217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35% Kept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143000"/>
            <a:ext cx="4279392" cy="52578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8B0000"/>
                </a:solidFill>
                <a:latin typeface="Arial"/>
              </a:rPr>
              <a:t>Commission Model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Sub-Agent (10%): $250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Master (5% assump.): $125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Total: $375/stu ($150K/yr)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260 Direct Save: $97,500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Net of $42K: $55,500/yr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Student Journey &amp; 3 Theories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164592"/>
            <a:ext cx="1965960" cy="512064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Member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56848" y="100584"/>
            <a:ext cx="6400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BE9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137160"/>
            <a:ext cx="566928" cy="5669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143000"/>
            <a:ext cx="2148840" cy="1325880"/>
          </a:xfrm>
          <a:prstGeom prst="roundRect">
            <a:avLst>
              <a:gd name="adj" fmla="val 4000"/>
            </a:avLst>
          </a:prstGeom>
          <a:solidFill>
            <a:srgbClr val="E80D13"/>
          </a:solidFill>
          <a:ln w="1905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Today: 5–7d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FBE9E7"/>
                </a:solidFill>
                <a:latin typeface="Arial"/>
              </a:rPr>
              <a:t>Paper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143000"/>
            <a:ext cx="1965960" cy="132588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8B0000"/>
                </a:solidFill>
                <a:latin typeface="Arial"/>
              </a:rPr>
              <a:t>Paper Form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46320" y="1645920"/>
            <a:ext cx="182880" cy="292608"/>
          </a:xfrm>
          <a:prstGeom prst="rightArrow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74920" y="1143000"/>
            <a:ext cx="1965960" cy="132588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8B0000"/>
                </a:solidFill>
                <a:latin typeface="Arial"/>
              </a:rPr>
              <a:t>3–4 Stamps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86600" y="1645920"/>
            <a:ext cx="182880" cy="292608"/>
          </a:xfrm>
          <a:prstGeom prst="rightArrow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0" y="1143000"/>
            <a:ext cx="1965960" cy="132588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8B0000"/>
                </a:solidFill>
                <a:latin typeface="Arial"/>
              </a:rPr>
              <a:t>Bank Slip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326880" y="1645920"/>
            <a:ext cx="182880" cy="292608"/>
          </a:xfrm>
          <a:prstGeom prst="rightArrow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555480" y="1143000"/>
            <a:ext cx="1965960" cy="132588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8B0000"/>
                </a:solidFill>
                <a:latin typeface="Arial"/>
              </a:rPr>
              <a:t>Manual File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743200"/>
            <a:ext cx="2148840" cy="1325880"/>
          </a:xfrm>
          <a:prstGeom prst="roundRect">
            <a:avLst>
              <a:gd name="adj" fmla="val 4000"/>
            </a:avLst>
          </a:prstGeom>
          <a:solidFill>
            <a:srgbClr val="8B0000"/>
          </a:solidFill>
          <a:ln w="1905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Plan: &lt;24h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FBE9E7"/>
                </a:solidFill>
                <a:latin typeface="Arial"/>
              </a:rPr>
              <a:t>OneHub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34640" y="2743200"/>
            <a:ext cx="1965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8B0000"/>
                </a:solidFill>
                <a:latin typeface="Arial"/>
              </a:rPr>
              <a:t>Social DM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46320" y="3246120"/>
            <a:ext cx="182880" cy="292608"/>
          </a:xfrm>
          <a:prstGeom prst="rightArrow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74920" y="2743200"/>
            <a:ext cx="1965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8B0000"/>
                </a:solidFill>
                <a:latin typeface="Arial"/>
              </a:rPr>
              <a:t>Cloud Upload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86600" y="3246120"/>
            <a:ext cx="182880" cy="292608"/>
          </a:xfrm>
          <a:prstGeom prst="rightArrow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0" y="2743200"/>
            <a:ext cx="1965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8B0000"/>
                </a:solidFill>
                <a:latin typeface="Arial"/>
              </a:rPr>
              <a:t>1-Click ERP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26880" y="3246120"/>
            <a:ext cx="182880" cy="292608"/>
          </a:xfrm>
          <a:prstGeom prst="rightArrow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55480" y="2743200"/>
            <a:ext cx="1965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8B0000"/>
                </a:solidFill>
                <a:latin typeface="Arial"/>
              </a:rPr>
              <a:t>QR Pass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434840"/>
            <a:ext cx="3547872" cy="192024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8B0000"/>
                </a:solidFill>
                <a:latin typeface="Arial"/>
              </a:rPr>
              <a:t>Classical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24h SOP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5112" y="4434840"/>
            <a:ext cx="3547872" cy="192024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8B0000"/>
                </a:solidFill>
                <a:latin typeface="Arial"/>
              </a:rPr>
              <a:t>Behavioural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$50 Bonus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47304" y="4434840"/>
            <a:ext cx="3547872" cy="192024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8B0000"/>
                </a:solidFill>
                <a:latin typeface="Arial"/>
              </a:rPr>
              <a:t>Contingency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65% Direct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Goal &amp; 3 SMART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164592"/>
            <a:ext cx="1965960" cy="512064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Member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56848" y="100584"/>
            <a:ext cx="6400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BE9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137160"/>
            <a:ext cx="566928" cy="5669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143000"/>
            <a:ext cx="11183112" cy="1325880"/>
          </a:xfrm>
          <a:prstGeom prst="roundRect">
            <a:avLst>
              <a:gd name="adj" fmla="val 4000"/>
            </a:avLst>
          </a:prstGeom>
          <a:solidFill>
            <a:srgbClr val="8B0000"/>
          </a:solidFill>
          <a:ln w="2540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Goal: 65% Direct &amp; Paperless OneHub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34640"/>
            <a:ext cx="3547872" cy="352044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8B0000"/>
                </a:solidFill>
                <a:latin typeface="Arial"/>
              </a:rPr>
              <a:t>Financial SMART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65% direct (260)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$97,500 saved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$55,500 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2834640"/>
            <a:ext cx="3547872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8B0000"/>
                </a:solidFill>
                <a:latin typeface="Arial"/>
              </a:rPr>
              <a:t>Marketing SMART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5 Reels/wk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20,000 IG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&lt;=2h reply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47304" y="2834640"/>
            <a:ext cx="3547872" cy="352044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8B0000"/>
                </a:solidFill>
                <a:latin typeface="Arial"/>
              </a:rPr>
              <a:t>Digital SMART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OneHub (M6)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&lt;24h service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-90% paper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Strategy, Levels &amp; Contingency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164592"/>
            <a:ext cx="1965960" cy="512064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Member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56848" y="100584"/>
            <a:ext cx="6400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BE9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137160"/>
            <a:ext cx="566928" cy="5669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188720"/>
            <a:ext cx="3520440" cy="516636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8B0000"/>
                </a:solidFill>
                <a:latin typeface="Arial"/>
              </a:rPr>
              <a:t>Timestamp Rule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DM locks lead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$0 agent fee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188720"/>
            <a:ext cx="35204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Strategic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65% direct &amp; OneHub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971800"/>
            <a:ext cx="35204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Tactical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12 contracts &amp; CRM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4754880"/>
            <a:ext cx="35204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Operational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5 Reels, &lt;2h, &lt;24h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188720"/>
            <a:ext cx="35204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17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E80D13"/>
                </a:solidFill>
                <a:latin typeface="Arial"/>
              </a:rPr>
              <a:t>Contingency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M6 &lt;30%: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$100 Rebate (30)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12-Month Gantt Timeline ($42,000)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164592"/>
            <a:ext cx="1965960" cy="512064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Member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56848" y="100584"/>
            <a:ext cx="6400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BE9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137160"/>
            <a:ext cx="566928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1097280"/>
            <a:ext cx="11183112" cy="50292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Phase ($42,000 Budget)                                  Q1                    Q2                    Q3                    Q4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19072"/>
            <a:ext cx="111831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773936"/>
            <a:ext cx="406908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P1: Studio ($4,000)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1847088"/>
            <a:ext cx="1115568" cy="402336"/>
          </a:xfrm>
          <a:prstGeom prst="roundRect">
            <a:avLst>
              <a:gd name="adj" fmla="val 4000"/>
            </a:avLst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M1–M2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87168"/>
            <a:ext cx="11183112" cy="658368"/>
          </a:xfrm>
          <a:prstGeom prst="rect">
            <a:avLst/>
          </a:prstGeom>
          <a:solidFill>
            <a:srgbClr val="FBE9E7"/>
          </a:solidFill>
          <a:ln w="127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542032"/>
            <a:ext cx="4069080" cy="54864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P2: Contracts ($1,500)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12664" y="2615184"/>
            <a:ext cx="1673352" cy="402336"/>
          </a:xfrm>
          <a:prstGeom prst="roundRect">
            <a:avLst>
              <a:gd name="adj" fmla="val 4000"/>
            </a:avLst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M2–M4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255263"/>
            <a:ext cx="111831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310127"/>
            <a:ext cx="406908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P3: OneHub ($9,500)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70448" y="3383279"/>
            <a:ext cx="2231136" cy="402336"/>
          </a:xfrm>
          <a:prstGeom prst="roundRect">
            <a:avLst>
              <a:gd name="adj" fmla="val 4000"/>
            </a:avLst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M3–M6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23360"/>
            <a:ext cx="11183112" cy="658368"/>
          </a:xfrm>
          <a:prstGeom prst="rect">
            <a:avLst/>
          </a:prstGeom>
          <a:solidFill>
            <a:srgbClr val="FBE9E7"/>
          </a:solidFill>
          <a:ln w="127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4078224"/>
            <a:ext cx="4069080" cy="54864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P4: Ads &amp; Bonus ($25,000)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70448" y="4151376"/>
            <a:ext cx="5577840" cy="402336"/>
          </a:xfrm>
          <a:prstGeom prst="roundRect">
            <a:avLst>
              <a:gd name="adj" fmla="val 4000"/>
            </a:avLst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M3–M12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791456"/>
            <a:ext cx="111831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846320"/>
            <a:ext cx="406908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P5: Training ($2,000)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86016" y="4919472"/>
            <a:ext cx="2231136" cy="402336"/>
          </a:xfrm>
          <a:prstGeom prst="roundRect">
            <a:avLst>
              <a:gd name="adj" fmla="val 4000"/>
            </a:avLst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M5–M8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559552"/>
            <a:ext cx="11183112" cy="658368"/>
          </a:xfrm>
          <a:prstGeom prst="rect">
            <a:avLst/>
          </a:prstGeom>
          <a:solidFill>
            <a:srgbClr val="FBE9E7"/>
          </a:solidFill>
          <a:ln w="127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5614416"/>
            <a:ext cx="4069080" cy="54864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P6: KPI Audits ($0)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687568"/>
            <a:ext cx="3904487" cy="402336"/>
          </a:xfrm>
          <a:prstGeom prst="roundRect">
            <a:avLst>
              <a:gd name="adj" fmla="val 4000"/>
            </a:avLst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M6–M12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Organising: 120 Staff &amp; Authority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164592"/>
            <a:ext cx="1965960" cy="512064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Member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56848" y="100584"/>
            <a:ext cx="6400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BE9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137160"/>
            <a:ext cx="566928" cy="5669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188720"/>
            <a:ext cx="2121408" cy="2240280"/>
          </a:xfrm>
          <a:prstGeom prst="roundRect">
            <a:avLst>
              <a:gd name="adj" fmla="val 4000"/>
            </a:avLst>
          </a:prstGeom>
          <a:solidFill>
            <a:srgbClr val="8B0000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Top: 5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FBE9E7"/>
                </a:solidFill>
                <a:latin typeface="Arial"/>
              </a:rPr>
              <a:t>VC &amp; 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0632" y="1188720"/>
            <a:ext cx="2121408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Academic: 65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56 Lecturers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8344" y="1188720"/>
            <a:ext cx="2121408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Marketing: 20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16 Staff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6055" y="1188720"/>
            <a:ext cx="2121408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IT: 12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9 Staff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73768" y="1188720"/>
            <a:ext cx="2121408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Ops: 18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14 Staff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94760"/>
            <a:ext cx="3547872" cy="246888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Authority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$12K ad control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3794760"/>
            <a:ext cx="3547872" cy="246888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Delegation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Frontline speed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47304" y="3794760"/>
            <a:ext cx="3547872" cy="246888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Unity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1 Lead per staff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Organisation Chart &amp; Span of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164592"/>
            <a:ext cx="1965960" cy="512064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Member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56848" y="100584"/>
            <a:ext cx="6400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BE9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137160"/>
            <a:ext cx="566928" cy="5669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794760" y="1097280"/>
            <a:ext cx="4572000" cy="822960"/>
          </a:xfrm>
          <a:prstGeom prst="roundRect">
            <a:avLst>
              <a:gd name="adj" fmla="val 4000"/>
            </a:avLst>
          </a:prstGeom>
          <a:solidFill>
            <a:srgbClr val="8B0000"/>
          </a:solidFill>
          <a:ln w="2540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Top Management (5) — 120 Staff</a:t>
            </a:r>
          </a:p>
        </p:txBody>
      </p:sp>
      <p:sp>
        <p:nvSpPr>
          <p:cNvPr id="9" name="Rectangle 8"/>
          <p:cNvSpPr/>
          <p:nvPr/>
        </p:nvSpPr>
        <p:spPr>
          <a:xfrm>
            <a:off x="6053328" y="1920240"/>
            <a:ext cx="54864" cy="4114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83080" y="2286000"/>
            <a:ext cx="8595360" cy="5486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83080" y="2286000"/>
            <a:ext cx="45720" cy="32004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2606040" cy="214884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Academic (65)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56 Lecturers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83480"/>
            <a:ext cx="2606040" cy="1325880"/>
          </a:xfrm>
          <a:prstGeom prst="roundRect">
            <a:avLst>
              <a:gd name="adj" fmla="val 4000"/>
            </a:avLst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Wide: 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6008" y="2286000"/>
            <a:ext cx="45720" cy="32004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55848" y="2606040"/>
            <a:ext cx="2606040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Marketing (20)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16 Specialists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983480"/>
            <a:ext cx="2606040" cy="1325880"/>
          </a:xfrm>
          <a:prstGeom prst="roundRect">
            <a:avLst>
              <a:gd name="adj" fmla="val 4000"/>
            </a:avLst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Narrow: 5–6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8936" y="2286000"/>
            <a:ext cx="45720" cy="32004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08776" y="2606040"/>
            <a:ext cx="2606040" cy="214884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IT OneHub (12)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9 Specialists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4983480"/>
            <a:ext cx="2606040" cy="1325880"/>
          </a:xfrm>
          <a:prstGeom prst="roundRect">
            <a:avLst>
              <a:gd name="adj" fmla="val 4000"/>
            </a:avLst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Narrow: 4–5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1864" y="2286000"/>
            <a:ext cx="45720" cy="32004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61704" y="2606040"/>
            <a:ext cx="2606040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Operations (18)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14 Officers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1704" y="4983480"/>
            <a:ext cx="2606040" cy="1325880"/>
          </a:xfrm>
          <a:prstGeom prst="roundRect">
            <a:avLst>
              <a:gd name="adj" fmla="val 4000"/>
            </a:avLst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Narrow: 4–5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6-Step Leading &amp; 5 Power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164592"/>
            <a:ext cx="1965960" cy="512064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Member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56848" y="100584"/>
            <a:ext cx="6400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BE9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137160"/>
            <a:ext cx="566928" cy="5669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143000"/>
            <a:ext cx="11183112" cy="123444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8B0000"/>
                </a:solidFill>
                <a:latin typeface="Arial"/>
              </a:rPr>
              <a:t>6 Steps: Direction • Communicate • Guide • Motivate • Support • Follow 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97480"/>
            <a:ext cx="2121408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8B0000"/>
                </a:solidFill>
                <a:latin typeface="Arial"/>
              </a:rPr>
              <a:t>Legitimate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M8 paperless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0632" y="2697480"/>
            <a:ext cx="2121408" cy="361188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8B0000"/>
                </a:solidFill>
                <a:latin typeface="Arial"/>
              </a:rPr>
              <a:t>Expert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IT sandbox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8344" y="2697480"/>
            <a:ext cx="2121408" cy="361188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8B0000"/>
                </a:solidFill>
                <a:latin typeface="Arial"/>
              </a:rPr>
              <a:t>Referent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Respect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6055" y="2697480"/>
            <a:ext cx="2121408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8B0000"/>
                </a:solidFill>
                <a:latin typeface="Arial"/>
              </a:rPr>
              <a:t>Reward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$50 bonus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73768" y="2697480"/>
            <a:ext cx="2121408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8B0000"/>
                </a:solidFill>
                <a:latin typeface="Arial"/>
              </a:rPr>
              <a:t>Coercive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Last resort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Month 6 Registry Clerks Scenario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164592"/>
            <a:ext cx="1965960" cy="512064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Member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56848" y="100584"/>
            <a:ext cx="6400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BE9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137160"/>
            <a:ext cx="566928" cy="5669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508760"/>
            <a:ext cx="2578608" cy="443484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8B0000"/>
                </a:solidFill>
                <a:latin typeface="Arial"/>
              </a:rPr>
              <a:t>1. Problem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2 clerks fear ERP;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40 files wait 5d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18104" y="3520440"/>
            <a:ext cx="201168" cy="365760"/>
          </a:xfrm>
          <a:prstGeom prst="rightArrow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55848" y="1508760"/>
            <a:ext cx="2578608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8B0000"/>
                </a:solidFill>
                <a:latin typeface="Arial"/>
              </a:rPr>
              <a:t>2. Referent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Coffee chat;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no shouting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71031" y="3520440"/>
            <a:ext cx="201168" cy="365760"/>
          </a:xfrm>
          <a:prstGeom prst="rightArrow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08776" y="1508760"/>
            <a:ext cx="2578608" cy="443484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8B0000"/>
                </a:solidFill>
                <a:latin typeface="Arial"/>
              </a:rPr>
              <a:t>3. Expert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10-file Sandbox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+ buddy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823960" y="3520440"/>
            <a:ext cx="201168" cy="365760"/>
          </a:xfrm>
          <a:prstGeom prst="rightArrow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61704" y="1508760"/>
            <a:ext cx="2578608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8B0000"/>
                </a:solidFill>
                <a:latin typeface="Arial"/>
              </a:rPr>
              <a:t>4. Result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40 files cleared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rial"/>
              </a:rPr>
              <a:t>in &lt;24h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Control Cycle &amp; Traffic-Light KPIs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164592"/>
            <a:ext cx="1965960" cy="512064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Member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56848" y="100584"/>
            <a:ext cx="6400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BE9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137160"/>
            <a:ext cx="566928" cy="5669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051560"/>
            <a:ext cx="11183112" cy="59436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Traffic-Light:   Green &gt;=100%    Amber 85–99%    Red &lt;85%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1956816" cy="841248"/>
          </a:xfrm>
          <a:prstGeom prst="rect">
            <a:avLst/>
          </a:prstGeom>
          <a:solidFill>
            <a:srgbClr val="8B0000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Area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783080"/>
            <a:ext cx="3328416" cy="841248"/>
          </a:xfrm>
          <a:prstGeom prst="rect">
            <a:avLst/>
          </a:prstGeom>
          <a:solidFill>
            <a:srgbClr val="8B0000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783080"/>
            <a:ext cx="2505456" cy="841248"/>
          </a:xfrm>
          <a:prstGeom prst="rect">
            <a:avLst/>
          </a:prstGeom>
          <a:solidFill>
            <a:srgbClr val="8B0000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Measure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1783080"/>
            <a:ext cx="3172968" cy="841248"/>
          </a:xfrm>
          <a:prstGeom prst="rect">
            <a:avLst/>
          </a:prstGeom>
          <a:solidFill>
            <a:srgbClr val="8B0000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15768"/>
            <a:ext cx="1956816" cy="841248"/>
          </a:xfrm>
          <a:prstGeom prst="rect">
            <a:avLst/>
          </a:prstGeom>
          <a:solidFill>
            <a:srgbClr val="FFFFFF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Finance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4600" y="2715768"/>
            <a:ext cx="3328416" cy="841248"/>
          </a:xfrm>
          <a:prstGeom prst="rect">
            <a:avLst/>
          </a:prstGeom>
          <a:solidFill>
            <a:srgbClr val="FFFFFF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$161.54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97880" y="2715768"/>
            <a:ext cx="2505456" cy="841248"/>
          </a:xfrm>
          <a:prstGeom prst="rect">
            <a:avLst/>
          </a:prstGeom>
          <a:solidFill>
            <a:srgbClr val="FFFFFF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58200" y="2715768"/>
            <a:ext cx="3172968" cy="841248"/>
          </a:xfrm>
          <a:prstGeom prst="rect">
            <a:avLst/>
          </a:prstGeom>
          <a:solidFill>
            <a:srgbClr val="FFFFFF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Pause ads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648456"/>
            <a:ext cx="1956816" cy="841248"/>
          </a:xfrm>
          <a:prstGeom prst="rect">
            <a:avLst/>
          </a:prstGeom>
          <a:solidFill>
            <a:srgbClr val="FBE9E7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3648456"/>
            <a:ext cx="3328416" cy="841248"/>
          </a:xfrm>
          <a:prstGeom prst="rect">
            <a:avLst/>
          </a:prstGeom>
          <a:solidFill>
            <a:srgbClr val="FBE9E7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&lt;24h ERP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97880" y="3648456"/>
            <a:ext cx="2505456" cy="841248"/>
          </a:xfrm>
          <a:prstGeom prst="rect">
            <a:avLst/>
          </a:prstGeom>
          <a:solidFill>
            <a:srgbClr val="FBE9E7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Timer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3648456"/>
            <a:ext cx="3172968" cy="841248"/>
          </a:xfrm>
          <a:prstGeom prst="rect">
            <a:avLst/>
          </a:prstGeom>
          <a:solidFill>
            <a:srgbClr val="FBE9E7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Reassign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581144"/>
            <a:ext cx="1956816" cy="841248"/>
          </a:xfrm>
          <a:prstGeom prst="rect">
            <a:avLst/>
          </a:prstGeom>
          <a:solidFill>
            <a:srgbClr val="FFFFFF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Quality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4581144"/>
            <a:ext cx="3328416" cy="841248"/>
          </a:xfrm>
          <a:prstGeom prst="rect">
            <a:avLst/>
          </a:prstGeom>
          <a:solidFill>
            <a:srgbClr val="FFFFFF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20K IG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4581144"/>
            <a:ext cx="2505456" cy="841248"/>
          </a:xfrm>
          <a:prstGeom prst="rect">
            <a:avLst/>
          </a:prstGeom>
          <a:solidFill>
            <a:srgbClr val="FFFFFF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Survey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58200" y="4581144"/>
            <a:ext cx="3172968" cy="841248"/>
          </a:xfrm>
          <a:prstGeom prst="rect">
            <a:avLst/>
          </a:prstGeom>
          <a:solidFill>
            <a:srgbClr val="FFFFFF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Reshoot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513832"/>
            <a:ext cx="1956816" cy="841248"/>
          </a:xfrm>
          <a:prstGeom prst="rect">
            <a:avLst/>
          </a:prstGeom>
          <a:solidFill>
            <a:srgbClr val="FBE9E7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Mix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14600" y="5513832"/>
            <a:ext cx="3328416" cy="841248"/>
          </a:xfrm>
          <a:prstGeom prst="rect">
            <a:avLst/>
          </a:prstGeom>
          <a:solidFill>
            <a:srgbClr val="FBE9E7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65% direct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97880" y="5513832"/>
            <a:ext cx="2505456" cy="841248"/>
          </a:xfrm>
          <a:prstGeom prst="rect">
            <a:avLst/>
          </a:prstGeom>
          <a:solidFill>
            <a:srgbClr val="FBE9E7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CRM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5513832"/>
            <a:ext cx="3172968" cy="841248"/>
          </a:xfrm>
          <a:prstGeom prst="rect">
            <a:avLst/>
          </a:prstGeom>
          <a:solidFill>
            <a:srgbClr val="FBE9E7"/>
          </a:solidFill>
          <a:ln w="1524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$100 Rebate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Quarterly Direct Share &amp; Formulas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164592"/>
            <a:ext cx="1965960" cy="512064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Member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56848" y="100584"/>
            <a:ext cx="6400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BE9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137160"/>
            <a:ext cx="566928" cy="5669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188720"/>
            <a:ext cx="6537960" cy="5120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5257800"/>
            <a:ext cx="868680" cy="1828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8952" y="4764024"/>
            <a:ext cx="109728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5504688"/>
            <a:ext cx="10972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7400" y="4434840"/>
            <a:ext cx="868680" cy="100584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947672" y="3941063"/>
            <a:ext cx="109728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20%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47672" y="5504688"/>
            <a:ext cx="10972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Q1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3429000"/>
            <a:ext cx="868680" cy="20116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136391" y="2935224"/>
            <a:ext cx="109728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40%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36391" y="5504688"/>
            <a:ext cx="10972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Q2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2697480"/>
            <a:ext cx="868680" cy="27432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25112" y="2203704"/>
            <a:ext cx="109728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55%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5112" y="5504688"/>
            <a:ext cx="10972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Q3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3560" y="2194560"/>
            <a:ext cx="868680" cy="3246120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13832" y="1700784"/>
            <a:ext cx="109728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65%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13832" y="5504688"/>
            <a:ext cx="10972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Q4 (260)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1188720"/>
            <a:ext cx="4370832" cy="512064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8B0000"/>
                </a:solidFill>
                <a:latin typeface="Arial"/>
              </a:rPr>
              <a:t>Formulas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Variance = Actual - Target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Achievement = (Actual÷Target)×100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Direct = $42K÷260 = $161.54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Blended = $94.5K÷400 = $236.25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Leadership, Comm &amp; Motivation Triangle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164592"/>
            <a:ext cx="1965960" cy="512064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Member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56848" y="100584"/>
            <a:ext cx="6400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BE9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137160"/>
            <a:ext cx="566928" cy="566928"/>
          </a:xfrm>
          <a:prstGeom prst="rect">
            <a:avLst/>
          </a:prstGeom>
        </p:spPr>
      </p:pic>
      <p:sp>
        <p:nvSpPr>
          <p:cNvPr id="8" name="Isosceles Triangle 7"/>
          <p:cNvSpPr/>
          <p:nvPr/>
        </p:nvSpPr>
        <p:spPr>
          <a:xfrm>
            <a:off x="1417320" y="1691640"/>
            <a:ext cx="4114800" cy="3886200"/>
          </a:xfrm>
          <a:prstGeom prst="triangle">
            <a:avLst/>
          </a:prstGeom>
          <a:solidFill>
            <a:srgbClr val="FBE9E7"/>
          </a:solidFill>
          <a:ln w="3175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8B0000"/>
                </a:solidFill>
                <a:latin typeface="Arial"/>
              </a:rPr>
              <a:t>
120 Staff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14300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Leadership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86400"/>
            <a:ext cx="2423160" cy="731520"/>
          </a:xfrm>
          <a:prstGeom prst="roundRect">
            <a:avLst>
              <a:gd name="adj" fmla="val 4000"/>
            </a:avLst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Communication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5486400"/>
            <a:ext cx="2423160" cy="731520"/>
          </a:xfrm>
          <a:prstGeom prst="roundRect">
            <a:avLst>
              <a:gd name="adj" fmla="val 4000"/>
            </a:avLst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Motivation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1234440"/>
            <a:ext cx="484632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8B0000"/>
                </a:solidFill>
                <a:latin typeface="Arial"/>
              </a:rPr>
              <a:t>Participative &amp; Situational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Co-design screens + step-by-step clerk coaching.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886200"/>
            <a:ext cx="4846320" cy="237744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8B0000"/>
                </a:solidFill>
                <a:latin typeface="Arial"/>
              </a:rPr>
              <a:t>Verbal &amp; Non-Verbal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Mon 9 AM huddle + eye-level coaching &amp; TV badge.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Maslow &amp; Herzberg 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164592"/>
            <a:ext cx="1965960" cy="512064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Member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56848" y="100584"/>
            <a:ext cx="6400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BE9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137160"/>
            <a:ext cx="566928" cy="5669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783079" y="1234440"/>
            <a:ext cx="2926080" cy="841248"/>
          </a:xfrm>
          <a:prstGeom prst="roundRect">
            <a:avLst>
              <a:gd name="adj" fmla="val 4000"/>
            </a:avLst>
          </a:prstGeom>
          <a:solidFill>
            <a:srgbClr val="8B0000"/>
          </a:solidFill>
          <a:ln w="1905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Self-Actualisation: 1-Click ERP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39" y="2240280"/>
            <a:ext cx="3566160" cy="841248"/>
          </a:xfrm>
          <a:prstGeom prst="roundRect">
            <a:avLst>
              <a:gd name="adj" fmla="val 4000"/>
            </a:avLst>
          </a:prstGeom>
          <a:solidFill>
            <a:srgbClr val="8B0000"/>
          </a:solidFill>
          <a:ln w="1905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Esteem: Leader Badges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246120"/>
            <a:ext cx="4206240" cy="841248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Social: Buddy Pairs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4251960"/>
            <a:ext cx="4846320" cy="841248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Safety: Zero Job Cuts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19" y="5257800"/>
            <a:ext cx="5486400" cy="841248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Physiological: Fast PCs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234440"/>
            <a:ext cx="521208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8B0000"/>
                </a:solidFill>
                <a:latin typeface="Arial"/>
              </a:rPr>
              <a:t>Hygiene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Zero job cuts &amp; fast PCs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886200"/>
            <a:ext cx="5212080" cy="233172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E80D13"/>
                </a:solidFill>
                <a:latin typeface="Arial"/>
              </a:rPr>
              <a:t>Motivators ($13,000)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$50 bonus × 260 + $400 awards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Integrated POLC Cycle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164592"/>
            <a:ext cx="1965960" cy="512064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B0000"/>
                </a:solidFill>
                <a:latin typeface="Arial"/>
              </a:rPr>
              <a:t>Member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56848" y="100584"/>
            <a:ext cx="6400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BE9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137160"/>
            <a:ext cx="566928" cy="566928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4617720" y="2971800"/>
            <a:ext cx="2953512" cy="1508760"/>
          </a:xfrm>
          <a:prstGeom prst="ellipse">
            <a:avLst/>
          </a:prstGeom>
          <a:solidFill>
            <a:srgbClr val="8B0000"/>
          </a:solidFill>
          <a:ln w="317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ALFA OneHub
POLC Loop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234440"/>
            <a:ext cx="3566160" cy="20574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1. PLANNING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65% direct &amp; $97.5K saved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234440"/>
            <a:ext cx="3566160" cy="20574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2. ORGANISING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120 staff &amp; spans (7 / 4–6)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251960"/>
            <a:ext cx="3566160" cy="20574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4. CONTROLLING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$161.54 direct &amp; KPIs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4251960"/>
            <a:ext cx="3566160" cy="20574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254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8B0000"/>
                </a:solidFill>
                <a:latin typeface="Arial"/>
              </a:rPr>
              <a:t>3. LEADING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Sandbox &amp; $50 bonus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09160" y="1965960"/>
            <a:ext cx="2743200" cy="365760"/>
          </a:xfrm>
          <a:prstGeom prst="rightArrow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9372600" y="3474720"/>
            <a:ext cx="365760" cy="594360"/>
          </a:xfrm>
          <a:prstGeom prst="downArrow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4709160" y="5120640"/>
            <a:ext cx="2743200" cy="365760"/>
          </a:xfrm>
          <a:prstGeom prst="leftArrow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p Arrow 15"/>
          <p:cNvSpPr/>
          <p:nvPr/>
        </p:nvSpPr>
        <p:spPr>
          <a:xfrm>
            <a:off x="2331720" y="3474720"/>
            <a:ext cx="365760" cy="594360"/>
          </a:xfrm>
          <a:prstGeom prst="upArrow">
            <a:avLst/>
          </a:prstGeom>
          <a:solidFill>
            <a:srgbClr val="E80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8680" y="777240"/>
            <a:ext cx="10451592" cy="530352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317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25880" y="1143000"/>
            <a:ext cx="128016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5202886c280f72db44c68092536797c9456a3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1188720" cy="1188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06840" y="1143000"/>
            <a:ext cx="1920240" cy="530352"/>
          </a:xfrm>
          <a:prstGeom prst="roundRect">
            <a:avLst>
              <a:gd name="adj" fmla="val 4000"/>
            </a:avLst>
          </a:prstGeom>
          <a:solidFill>
            <a:srgbClr val="8B0000"/>
          </a:solidFill>
          <a:ln w="19050">
            <a:solidFill>
              <a:srgbClr val="E80D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Member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5880" y="2697480"/>
            <a:ext cx="9509760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8B0000"/>
                </a:solidFill>
                <a:latin typeface="Arial"/>
              </a:rPr>
              <a:t>Thank You!  |  "A Leader For All"</a:t>
            </a:r>
          </a:p>
          <a:p>
            <a:pPr algn="ctr">
              <a:spcAft>
                <a:spcPts val="200"/>
              </a:spcAft>
            </a:pPr>
            <a:r>
              <a:rPr sz="1700" b="0">
                <a:solidFill>
                  <a:srgbClr val="262626"/>
                </a:solidFill>
                <a:latin typeface="Arial"/>
              </a:rPr>
              <a:t>1998 Alif Creative Academy • 2017 Nusantara • 2021 UC</a:t>
            </a:r>
          </a:p>
          <a:p>
            <a:pPr algn="ctr">
              <a:spcAft>
                <a:spcPts val="200"/>
              </a:spcAft>
            </a:pPr>
            <a:r>
              <a:rPr sz="1700" b="0">
                <a:solidFill>
                  <a:srgbClr val="262626"/>
                </a:solidFill>
                <a:latin typeface="Arial"/>
              </a:rPr>
              <a:t>65% Direct (260 Students) • $97,500 Saved • &lt;24h OneHub</a:t>
            </a:r>
          </a:p>
          <a:p>
            <a:pPr algn="ctr">
              <a:spcAft>
                <a:spcPts val="200"/>
              </a:spcAft>
            </a:pPr>
            <a:r>
              <a:rPr sz="1700" b="0">
                <a:solidFill>
                  <a:srgbClr val="262626"/>
                </a:solidFill>
                <a:latin typeface="Arial"/>
              </a:rPr>
              <a:t>Questions &amp; Discussion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